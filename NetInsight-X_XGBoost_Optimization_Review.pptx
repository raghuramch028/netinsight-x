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This presentation explains the two main technical ideas in NetInsight-X: XGBoost-based flow classification and constrained bandwidth allocation. They contribute to the same network-management workflow, but they solve different problems.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this combined view. Every agent sends telemetry. One path builds flows and classifies them using XGBoost; another uses measured capacity and configured QoS weights/bounds to solve an allocation. The API returns allocations to the agent, which applies local shaping. Separately, qualified XGBoost threats can produce an optional exact-flow firewall restriction. Do not say that a threat label automatically changes LP weights; it does not in the current code. Blocking can reduce competing offered traffic and make capacity available, while QoS apportions the link budget. Neither method creates physical bandwidth.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XGBoost simply: it is an ensemble of gradient-boosted decision trees. For each class, tree outputs are summed to form a score; softmax converts class scores into probabilities; the highest-probability class is selected. In this project the classifier is used once the flow has at least five packets. Optional flow restrictions also require confidence of at least 0.80 and other policy gates. The five model input features are implemented in xgboost_classifier.py.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Metrics are read from the repository's saved metrics.json: train 0.99432, validation 0.98868, test 0.98702, with 50,000 examples per split. Say these are saved results on preprocessed CICIoT2023 splits. Do not imply live accuracy or that validation is independent of all dataset biases.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repository's BandwidthOptimizer formulates a linear program: maximize weighted Mbps subject to a total capacity constraint and configured minimum/maximum class limits. To use CVXOPT's minimization solver it minimizes the negative of the weighted objective. Capacity is obtained dynamically from speed_monitor in the telemetry API. If minimum allocations exceed capacity or the solve fails, a priority-weighted fallback is used.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default QOS_PRIORITIES, QOS_MIN_BANDWIDTH, and QOS_MAX_BANDWIDTH values in project settings, in the same order returned by the solver: Web Browsing, Streaming, File Transfer, Critical Services. The configured settings can override them, and default min/max bounds scale with detected capacity relative to 100 Mbps.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worked illustrative result from the mathematical LP with B=100 Mbps and the default priority and bounds. Lower bounds total 32 Mbps, leaving 68 Mbps. The highest weight class (Critical Services, weight 3) can rise from 10 to 50 Mbps, consuming 40 Mbps; the remaining 28 goes to Streaming (weight 2), from 15 to 43 Mbps. Web and File remain at minima. Total = 100 Mbps. This objective is linear and can concentrate allocation into higher-weight classes; the example illustrates the current objective, not a fairness guarantee. Actual results can vary with custom settings and solver tolerances.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KKT at a high level: the allocation respects constraints; dual variables satisfy sign conditions; active constraints align with their multipliers; and the objective gradient balances constraint gradients. The code uses tolerance 1e-5. The logged checks establish solver consistency under the LP formulation, not that the configured weights are fair or that a physical router enforces the allocation exactly.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flow builder estimates a rate from bytes and duration. If the exact outbound flow is actually blocked and would otherwise continue, the corresponding offered traffic can fall by roughly that rate. This is an estimate, not guaranteed saved throughput: the source may stop sending, other traffic may fill the space, and link overhead/measurements matter. The optimizer allocates within measured B; it does not create capacity.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protects technical accuracy. The API calls solve_allocation on each telemetry request, based on measured capacity and configured QoS values, then returns class caps. The agent receives the caps and applies shaping. The XGBoost evidence is used in a different decision path for optional flow restrictions. Do not claim the XGBoost label dynamically adjusts QoS weights; the current code does not connect it that way. A future feature could adapt priorities after operator review, but that would need careful policy and testing.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distinguishing the roles. XGBoost classifies. The LP allocates a measured link budget among configured classes. Optional firewall enforcement can stop a qualifying specific outbound flow and potentially reduce offered load. Together this provides visibility and control, but not more physical bandwidth and not guaranteed equal shares.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43A"/>
        </a:solidFill>
        <a:effectLst/>
      </p:bgPr>
    </p:bg>
    <p:spTree>
      <p:nvGrpSpPr>
        <p:cNvPr id="1" name=""/>
        <p:cNvGrpSpPr/>
        <p:nvPr/>
      </p:nvGrpSpPr>
      <p:grpSpPr/>
      <p:sp>
        <p:nvSpPr>
          <p:cNvPr id="2" name="Rounded Rectangle 1"/>
          <p:cNvSpPr/>
          <p:nvPr/>
        </p:nvSpPr>
        <p:spPr>
          <a:xfrm>
            <a:off x="658368" y="621792"/>
            <a:ext cx="438912" cy="438912"/>
          </a:xfrm>
          <a:prstGeom prst="roundRect">
            <a:avLst>
              <a:gd name="adj" fmla="val 8000"/>
            </a:avLst>
          </a:prstGeom>
          <a:solidFill>
            <a:srgbClr val="D7ED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630936"/>
            <a:ext cx="365760" cy="365760"/>
          </a:xfrm>
          <a:prstGeom prst="rect">
            <a:avLst/>
          </a:prstGeom>
          <a:noFill/>
        </p:spPr>
        <p:txBody>
          <a:bodyPr wrap="square" lIns="0" rIns="0" tIns="0" bIns="0" anchor="ctr">
            <a:spAutoFit/>
          </a:bodyPr>
          <a:lstStyle/>
          <a:p>
            <a:pPr algn="ctr">
              <a:spcAft>
                <a:spcPts val="500"/>
              </a:spcAft>
            </a:pPr>
            <a:r>
              <a:rPr sz="2100" b="1" i="0">
                <a:solidFill>
                  <a:srgbClr val="17343A"/>
                </a:solidFill>
                <a:latin typeface="Aptos"/>
              </a:rPr>
              <a:t>N</a:t>
            </a:r>
          </a:p>
        </p:txBody>
      </p:sp>
      <p:sp>
        <p:nvSpPr>
          <p:cNvPr id="4" name="TextBox 3"/>
          <p:cNvSpPr txBox="1"/>
          <p:nvPr/>
        </p:nvSpPr>
        <p:spPr>
          <a:xfrm>
            <a:off x="1225296" y="667512"/>
            <a:ext cx="2743200" cy="310896"/>
          </a:xfrm>
          <a:prstGeom prst="rect">
            <a:avLst/>
          </a:prstGeom>
          <a:noFill/>
        </p:spPr>
        <p:txBody>
          <a:bodyPr wrap="square" lIns="36576" rIns="36576" tIns="36576" bIns="36576" anchor="ctr">
            <a:spAutoFit/>
          </a:bodyPr>
          <a:lstStyle/>
          <a:p>
            <a:pPr algn="l">
              <a:spcAft>
                <a:spcPts val="500"/>
              </a:spcAft>
            </a:pPr>
            <a:r>
              <a:rPr sz="1300" b="1" i="0">
                <a:solidFill>
                  <a:srgbClr val="D7ED76"/>
                </a:solidFill>
                <a:latin typeface="Aptos"/>
              </a:rPr>
              <a:t>NETINSIGHT-X</a:t>
            </a:r>
          </a:p>
        </p:txBody>
      </p:sp>
      <p:sp>
        <p:nvSpPr>
          <p:cNvPr id="5" name="TextBox 4"/>
          <p:cNvSpPr txBox="1"/>
          <p:nvPr/>
        </p:nvSpPr>
        <p:spPr>
          <a:xfrm>
            <a:off x="749808" y="1627632"/>
            <a:ext cx="10058400" cy="1463040"/>
          </a:xfrm>
          <a:prstGeom prst="rect">
            <a:avLst/>
          </a:prstGeom>
          <a:noFill/>
        </p:spPr>
        <p:txBody>
          <a:bodyPr wrap="square" lIns="36576" rIns="36576" tIns="36576" bIns="36576" anchor="t">
            <a:spAutoFit/>
          </a:bodyPr>
          <a:lstStyle/>
          <a:p>
            <a:pPr algn="l">
              <a:spcAft>
                <a:spcPts val="500"/>
              </a:spcAft>
            </a:pPr>
            <a:r>
              <a:rPr sz="3500" b="1" i="0">
                <a:solidFill>
                  <a:srgbClr val="FFFFFF"/>
                </a:solidFill>
                <a:latin typeface="Aptos"/>
              </a:rPr>
              <a:t>XGBoost + Optimization:</a:t>
            </a:r>
          </a:p>
          <a:p>
            <a:pPr algn="l">
              <a:spcAft>
                <a:spcPts val="500"/>
              </a:spcAft>
            </a:pPr>
            <a:r>
              <a:rPr sz="3500" b="1" i="0">
                <a:solidFill>
                  <a:srgbClr val="FFFFFF"/>
                </a:solidFill>
                <a:latin typeface="Aptos"/>
              </a:rPr>
              <a:t>From Threat Detection to QoS</a:t>
            </a:r>
          </a:p>
        </p:txBody>
      </p:sp>
      <p:sp>
        <p:nvSpPr>
          <p:cNvPr id="6" name="TextBox 5"/>
          <p:cNvSpPr txBox="1"/>
          <p:nvPr/>
        </p:nvSpPr>
        <p:spPr>
          <a:xfrm>
            <a:off x="786384" y="3364992"/>
            <a:ext cx="8503920" cy="731520"/>
          </a:xfrm>
          <a:prstGeom prst="rect">
            <a:avLst/>
          </a:prstGeom>
          <a:noFill/>
        </p:spPr>
        <p:txBody>
          <a:bodyPr wrap="square" lIns="36576" rIns="36576" tIns="36576" bIns="36576" anchor="t">
            <a:spAutoFit/>
          </a:bodyPr>
          <a:lstStyle/>
          <a:p>
            <a:pPr algn="l">
              <a:spcAft>
                <a:spcPts val="500"/>
              </a:spcAft>
            </a:pPr>
            <a:r>
              <a:rPr sz="1900" b="0" i="0">
                <a:solidFill>
                  <a:srgbClr val="B7C9C7"/>
                </a:solidFill>
                <a:latin typeface="Aptos"/>
              </a:rPr>
              <a:t>How classification, constrained allocation, and optional flow controls work together</a:t>
            </a:r>
          </a:p>
        </p:txBody>
      </p:sp>
      <p:sp>
        <p:nvSpPr>
          <p:cNvPr id="7" name="Rectangle 6"/>
          <p:cNvSpPr/>
          <p:nvPr/>
        </p:nvSpPr>
        <p:spPr>
          <a:xfrm>
            <a:off x="786384" y="4681728"/>
            <a:ext cx="868680" cy="64008"/>
          </a:xfrm>
          <a:prstGeom prst="rect">
            <a:avLst/>
          </a:prstGeom>
          <a:solidFill>
            <a:srgbClr val="E66D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5010912"/>
            <a:ext cx="7772400" cy="548640"/>
          </a:xfrm>
          <a:prstGeom prst="rect">
            <a:avLst/>
          </a:prstGeom>
          <a:noFill/>
        </p:spPr>
        <p:txBody>
          <a:bodyPr wrap="square" lIns="36576" rIns="36576" tIns="36576" bIns="36576" anchor="t">
            <a:spAutoFit/>
          </a:bodyPr>
          <a:lstStyle/>
          <a:p>
            <a:pPr algn="l">
              <a:spcAft>
                <a:spcPts val="500"/>
              </a:spcAft>
            </a:pPr>
            <a:r>
              <a:rPr sz="1300" b="0" i="0">
                <a:solidFill>
                  <a:srgbClr val="D7E2DF"/>
                </a:solidFill>
                <a:latin typeface="Aptos"/>
              </a:rPr>
              <a:t>Final Project Review  |  Your Name  |  Date</a:t>
            </a:r>
          </a:p>
        </p:txBody>
      </p:sp>
      <p:sp>
        <p:nvSpPr>
          <p:cNvPr id="9" name="TextBox 8"/>
          <p:cNvSpPr txBox="1"/>
          <p:nvPr/>
        </p:nvSpPr>
        <p:spPr>
          <a:xfrm>
            <a:off x="786384" y="6336792"/>
            <a:ext cx="4572000" cy="228600"/>
          </a:xfrm>
          <a:prstGeom prst="rect">
            <a:avLst/>
          </a:prstGeom>
          <a:noFill/>
        </p:spPr>
        <p:txBody>
          <a:bodyPr wrap="square" lIns="36576" rIns="36576" tIns="36576" bIns="36576" anchor="t">
            <a:spAutoFit/>
          </a:bodyPr>
          <a:lstStyle/>
          <a:p>
            <a:pPr algn="l">
              <a:spcAft>
                <a:spcPts val="500"/>
              </a:spcAft>
            </a:pPr>
            <a:r>
              <a:rPr sz="900" b="1" i="0">
                <a:solidFill>
                  <a:srgbClr val="B7C9C7"/>
                </a:solidFill>
                <a:latin typeface="Aptos"/>
              </a:rPr>
              <a:t>EDITABLE POWERPOINT  ·  TEXT, SHAPES, EQUATIONS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F6F1"/>
        </a:solidFill>
        <a:effectLst/>
      </p:bgPr>
    </p:bg>
    <p:spTree>
      <p:nvGrpSpPr>
        <p:cNvPr id="1" name=""/>
        <p:cNvGrpSpPr/>
        <p:nvPr/>
      </p:nvGrpSpPr>
      <p:grpSpPr/>
      <p:sp>
        <p:nvSpPr>
          <p:cNvPr id="2" name="Rounded Rectangle 1"/>
          <p:cNvSpPr/>
          <p:nvPr/>
        </p:nvSpPr>
        <p:spPr>
          <a:xfrm>
            <a:off x="502920" y="310896"/>
            <a:ext cx="310896" cy="310896"/>
          </a:xfrm>
          <a:prstGeom prst="roundRect">
            <a:avLst>
              <a:gd name="adj" fmla="val 8000"/>
            </a:avLst>
          </a:prstGeom>
          <a:solidFill>
            <a:srgbClr val="D7ED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315468"/>
            <a:ext cx="256032" cy="265176"/>
          </a:xfrm>
          <a:prstGeom prst="rect">
            <a:avLst/>
          </a:prstGeom>
          <a:noFill/>
        </p:spPr>
        <p:txBody>
          <a:bodyPr wrap="square" lIns="0" rIns="0" tIns="0" bIns="0" anchor="ctr">
            <a:spAutoFit/>
          </a:bodyPr>
          <a:lstStyle/>
          <a:p>
            <a:pPr algn="ctr">
              <a:spcAft>
                <a:spcPts val="500"/>
              </a:spcAft>
            </a:pPr>
            <a:r>
              <a:rPr sz="1500" b="1" i="0">
                <a:solidFill>
                  <a:srgbClr val="17343A"/>
                </a:solidFill>
                <a:latin typeface="Aptos"/>
              </a:rPr>
              <a:t>N</a:t>
            </a:r>
          </a:p>
        </p:txBody>
      </p:sp>
      <p:sp>
        <p:nvSpPr>
          <p:cNvPr id="4" name="TextBox 3"/>
          <p:cNvSpPr txBox="1"/>
          <p:nvPr/>
        </p:nvSpPr>
        <p:spPr>
          <a:xfrm>
            <a:off x="905256" y="310896"/>
            <a:ext cx="2103120" cy="274320"/>
          </a:xfrm>
          <a:prstGeom prst="rect">
            <a:avLst/>
          </a:prstGeom>
          <a:noFill/>
        </p:spPr>
        <p:txBody>
          <a:bodyPr wrap="square" lIns="36576" rIns="36576" tIns="36576" bIns="36576" anchor="ctr">
            <a:spAutoFit/>
          </a:bodyPr>
          <a:lstStyle/>
          <a:p>
            <a:pPr algn="l">
              <a:spcAft>
                <a:spcPts val="500"/>
              </a:spcAft>
            </a:pPr>
            <a:r>
              <a:rPr sz="1000" b="1" i="0">
                <a:solidFill>
                  <a:srgbClr val="087E78"/>
                </a:solidFill>
                <a:latin typeface="Aptos"/>
              </a:rPr>
              <a:t>NETINSIGHT-X</a:t>
            </a:r>
          </a:p>
        </p:txBody>
      </p:sp>
      <p:sp>
        <p:nvSpPr>
          <p:cNvPr id="5" name="TextBox 4"/>
          <p:cNvSpPr txBox="1"/>
          <p:nvPr/>
        </p:nvSpPr>
        <p:spPr>
          <a:xfrm>
            <a:off x="8321040" y="310896"/>
            <a:ext cx="3337560" cy="274320"/>
          </a:xfrm>
          <a:prstGeom prst="rect">
            <a:avLst/>
          </a:prstGeom>
          <a:noFill/>
        </p:spPr>
        <p:txBody>
          <a:bodyPr wrap="square" lIns="36576" rIns="36576" tIns="36576" bIns="36576" anchor="ctr">
            <a:spAutoFit/>
          </a:bodyPr>
          <a:lstStyle/>
          <a:p>
            <a:pPr algn="r">
              <a:spcAft>
                <a:spcPts val="500"/>
              </a:spcAft>
            </a:pPr>
            <a:r>
              <a:rPr sz="900" b="1" i="0">
                <a:solidFill>
                  <a:srgbClr val="526A70"/>
                </a:solidFill>
                <a:latin typeface="Aptos"/>
              </a:rPr>
              <a:t>THE COMBINED WORKFLOW  ·  02</a:t>
            </a:r>
          </a:p>
        </p:txBody>
      </p:sp>
      <p:sp>
        <p:nvSpPr>
          <p:cNvPr id="6" name="TextBox 5"/>
          <p:cNvSpPr txBox="1"/>
          <p:nvPr/>
        </p:nvSpPr>
        <p:spPr>
          <a:xfrm>
            <a:off x="594360" y="786384"/>
            <a:ext cx="10972800" cy="521207"/>
          </a:xfrm>
          <a:prstGeom prst="rect">
            <a:avLst/>
          </a:prstGeom>
          <a:noFill/>
        </p:spPr>
        <p:txBody>
          <a:bodyPr wrap="square" lIns="36576" rIns="36576" tIns="36576" bIns="36576" anchor="ctr">
            <a:spAutoFit/>
          </a:bodyPr>
          <a:lstStyle/>
          <a:p>
            <a:pPr algn="l">
              <a:spcAft>
                <a:spcPts val="500"/>
              </a:spcAft>
            </a:pPr>
            <a:r>
              <a:rPr sz="2800" b="1" i="0">
                <a:solidFill>
                  <a:srgbClr val="17343A"/>
                </a:solidFill>
                <a:latin typeface="Aptos"/>
              </a:rPr>
              <a:t>How XGBoost and Optimization Work Together</a:t>
            </a:r>
          </a:p>
        </p:txBody>
      </p:sp>
      <p:sp>
        <p:nvSpPr>
          <p:cNvPr id="7" name="Rectangle 6"/>
          <p:cNvSpPr/>
          <p:nvPr/>
        </p:nvSpPr>
        <p:spPr>
          <a:xfrm>
            <a:off x="612648" y="1399032"/>
            <a:ext cx="685800" cy="41148"/>
          </a:xfrm>
          <a:prstGeom prst="rect">
            <a:avLst/>
          </a:prstGeom>
          <a:solidFill>
            <a:srgbClr val="E66D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6519672"/>
            <a:ext cx="10991088" cy="10972"/>
          </a:xfrm>
          <a:prstGeom prst="rect">
            <a:avLst/>
          </a:prstGeom>
          <a:solidFill>
            <a:srgbClr val="D5E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6565392"/>
            <a:ext cx="5943600" cy="164592"/>
          </a:xfrm>
          <a:prstGeom prst="rect">
            <a:avLst/>
          </a:prstGeom>
          <a:noFill/>
        </p:spPr>
        <p:txBody>
          <a:bodyPr wrap="square" lIns="36576" rIns="36576" tIns="36576" bIns="36576" anchor="ctr">
            <a:spAutoFit/>
          </a:bodyPr>
          <a:lstStyle/>
          <a:p>
            <a:pPr algn="l">
              <a:spcAft>
                <a:spcPts val="500"/>
              </a:spcAft>
            </a:pPr>
            <a:r>
              <a:rPr sz="800" b="1" i="0">
                <a:solidFill>
                  <a:srgbClr val="526A70"/>
                </a:solidFill>
                <a:latin typeface="Aptos"/>
              </a:rPr>
              <a:t>NETINSIGHT-X  |  PROJECT REVIEW</a:t>
            </a:r>
          </a:p>
        </p:txBody>
      </p:sp>
      <p:sp>
        <p:nvSpPr>
          <p:cNvPr id="10" name="TextBox 9"/>
          <p:cNvSpPr txBox="1"/>
          <p:nvPr/>
        </p:nvSpPr>
        <p:spPr>
          <a:xfrm>
            <a:off x="10972800" y="6547104"/>
            <a:ext cx="594360" cy="182880"/>
          </a:xfrm>
          <a:prstGeom prst="rect">
            <a:avLst/>
          </a:prstGeom>
          <a:noFill/>
        </p:spPr>
        <p:txBody>
          <a:bodyPr wrap="square" lIns="36576" rIns="36576" tIns="36576" bIns="36576" anchor="ctr">
            <a:spAutoFit/>
          </a:bodyPr>
          <a:lstStyle/>
          <a:p>
            <a:pPr algn="r">
              <a:spcAft>
                <a:spcPts val="500"/>
              </a:spcAft>
            </a:pPr>
            <a:r>
              <a:rPr sz="900" b="1" i="0">
                <a:solidFill>
                  <a:srgbClr val="526A70"/>
                </a:solidFill>
                <a:latin typeface="Aptos"/>
              </a:rPr>
              <a:t>02</a:t>
            </a:r>
          </a:p>
        </p:txBody>
      </p:sp>
      <p:sp>
        <p:nvSpPr>
          <p:cNvPr id="11" name="TextBox 10"/>
          <p:cNvSpPr txBox="1"/>
          <p:nvPr/>
        </p:nvSpPr>
        <p:spPr>
          <a:xfrm>
            <a:off x="685800" y="1627632"/>
            <a:ext cx="10789920" cy="411480"/>
          </a:xfrm>
          <a:prstGeom prst="rect">
            <a:avLst/>
          </a:prstGeom>
          <a:noFill/>
        </p:spPr>
        <p:txBody>
          <a:bodyPr wrap="square" lIns="36576" rIns="36576" tIns="36576" bIns="36576" anchor="t">
            <a:spAutoFit/>
          </a:bodyPr>
          <a:lstStyle/>
          <a:p>
            <a:pPr algn="l">
              <a:spcAft>
                <a:spcPts val="500"/>
              </a:spcAft>
            </a:pPr>
            <a:r>
              <a:rPr sz="1700" b="0" i="0">
                <a:solidFill>
                  <a:srgbClr val="526A70"/>
                </a:solidFill>
                <a:latin typeface="Aptos"/>
              </a:rPr>
              <a:t>One shared telemetry stream feeds two cooperating decision paths.</a:t>
            </a:r>
          </a:p>
        </p:txBody>
      </p:sp>
      <p:sp>
        <p:nvSpPr>
          <p:cNvPr id="12" name="Rounded Rectangle 11"/>
          <p:cNvSpPr/>
          <p:nvPr/>
        </p:nvSpPr>
        <p:spPr>
          <a:xfrm>
            <a:off x="713232" y="2331720"/>
            <a:ext cx="3246120" cy="1371600"/>
          </a:xfrm>
          <a:prstGeom prst="roundRect">
            <a:avLst>
              <a:gd name="adj" fmla="val 8000"/>
            </a:avLst>
          </a:prstGeom>
          <a:solidFill>
            <a:srgbClr val="FFFFFF"/>
          </a:solidFill>
          <a:ln>
            <a:solidFill>
              <a:srgbClr val="D5E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13232" y="2331720"/>
            <a:ext cx="64008" cy="1371600"/>
          </a:xfrm>
          <a:prstGeom prst="roundRect">
            <a:avLst>
              <a:gd name="adj" fmla="val 8000"/>
            </a:avLst>
          </a:prstGeom>
          <a:solidFill>
            <a:srgbClr val="087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468879"/>
            <a:ext cx="2862072" cy="320040"/>
          </a:xfrm>
          <a:prstGeom prst="rect">
            <a:avLst/>
          </a:prstGeom>
          <a:noFill/>
        </p:spPr>
        <p:txBody>
          <a:bodyPr wrap="square" lIns="36576" rIns="36576" tIns="36576" bIns="36576" anchor="t">
            <a:spAutoFit/>
          </a:bodyPr>
          <a:lstStyle/>
          <a:p>
            <a:pPr algn="l">
              <a:spcAft>
                <a:spcPts val="500"/>
              </a:spcAft>
            </a:pPr>
            <a:r>
              <a:rPr sz="1600" b="1" i="0">
                <a:solidFill>
                  <a:srgbClr val="17343A"/>
                </a:solidFill>
                <a:latin typeface="Aptos"/>
              </a:rPr>
              <a:t>A  ·  CLASSIFY FLOWS</a:t>
            </a:r>
          </a:p>
        </p:txBody>
      </p:sp>
      <p:sp>
        <p:nvSpPr>
          <p:cNvPr id="15" name="TextBox 14"/>
          <p:cNvSpPr txBox="1"/>
          <p:nvPr/>
        </p:nvSpPr>
        <p:spPr>
          <a:xfrm>
            <a:off x="914400" y="2852927"/>
            <a:ext cx="2862072" cy="749808"/>
          </a:xfrm>
          <a:prstGeom prst="rect">
            <a:avLst/>
          </a:prstGeom>
          <a:noFill/>
        </p:spPr>
        <p:txBody>
          <a:bodyPr wrap="square" lIns="36576" rIns="36576" tIns="36576" bIns="36576" anchor="t">
            <a:spAutoFit/>
          </a:bodyPr>
          <a:lstStyle/>
          <a:p>
            <a:pPr algn="l">
              <a:spcAft>
                <a:spcPts val="500"/>
              </a:spcAft>
            </a:pPr>
            <a:r>
              <a:rPr sz="1300" b="0" i="0">
                <a:solidFill>
                  <a:srgbClr val="526A70"/>
                </a:solidFill>
                <a:latin typeface="Aptos"/>
              </a:rPr>
              <a:t>Packet/flow features → XGBoost label + confidence → suspicious-flow evidence</a:t>
            </a:r>
          </a:p>
        </p:txBody>
      </p:sp>
      <p:sp>
        <p:nvSpPr>
          <p:cNvPr id="16" name="Rounded Rectangle 15"/>
          <p:cNvSpPr/>
          <p:nvPr/>
        </p:nvSpPr>
        <p:spPr>
          <a:xfrm>
            <a:off x="713232" y="4005072"/>
            <a:ext cx="3246120" cy="1371600"/>
          </a:xfrm>
          <a:prstGeom prst="roundRect">
            <a:avLst>
              <a:gd name="adj" fmla="val 8000"/>
            </a:avLst>
          </a:prstGeom>
          <a:solidFill>
            <a:srgbClr val="FFFFFF"/>
          </a:solidFill>
          <a:ln>
            <a:solidFill>
              <a:srgbClr val="D5E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13232" y="4005072"/>
            <a:ext cx="64008" cy="1371600"/>
          </a:xfrm>
          <a:prstGeom prst="roundRect">
            <a:avLst>
              <a:gd name="adj" fmla="val 8000"/>
            </a:avLst>
          </a:prstGeom>
          <a:solidFill>
            <a:srgbClr val="E66D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142232"/>
            <a:ext cx="2862072" cy="320040"/>
          </a:xfrm>
          <a:prstGeom prst="rect">
            <a:avLst/>
          </a:prstGeom>
          <a:noFill/>
        </p:spPr>
        <p:txBody>
          <a:bodyPr wrap="square" lIns="36576" rIns="36576" tIns="36576" bIns="36576" anchor="t">
            <a:spAutoFit/>
          </a:bodyPr>
          <a:lstStyle/>
          <a:p>
            <a:pPr algn="l">
              <a:spcAft>
                <a:spcPts val="500"/>
              </a:spcAft>
            </a:pPr>
            <a:r>
              <a:rPr sz="1600" b="1" i="0">
                <a:solidFill>
                  <a:srgbClr val="17343A"/>
                </a:solidFill>
                <a:latin typeface="Aptos"/>
              </a:rPr>
              <a:t>B  ·  ALLOCATE QOS</a:t>
            </a:r>
          </a:p>
        </p:txBody>
      </p:sp>
      <p:sp>
        <p:nvSpPr>
          <p:cNvPr id="19" name="TextBox 18"/>
          <p:cNvSpPr txBox="1"/>
          <p:nvPr/>
        </p:nvSpPr>
        <p:spPr>
          <a:xfrm>
            <a:off x="914400" y="4526280"/>
            <a:ext cx="2862072" cy="749808"/>
          </a:xfrm>
          <a:prstGeom prst="rect">
            <a:avLst/>
          </a:prstGeom>
          <a:noFill/>
        </p:spPr>
        <p:txBody>
          <a:bodyPr wrap="square" lIns="36576" rIns="36576" tIns="36576" bIns="36576" anchor="t">
            <a:spAutoFit/>
          </a:bodyPr>
          <a:lstStyle/>
          <a:p>
            <a:pPr algn="l">
              <a:spcAft>
                <a:spcPts val="500"/>
              </a:spcAft>
            </a:pPr>
            <a:r>
              <a:rPr sz="1300" b="0" i="0">
                <a:solidFill>
                  <a:srgbClr val="526A70"/>
                </a:solidFill>
                <a:latin typeface="Aptos"/>
              </a:rPr>
              <a:t>Measured link capacity + class priorities/bounds → CVXOPT allocation per class</a:t>
            </a:r>
          </a:p>
        </p:txBody>
      </p:sp>
      <p:sp>
        <p:nvSpPr>
          <p:cNvPr id="20" name="TextBox 19"/>
          <p:cNvSpPr txBox="1"/>
          <p:nvPr/>
        </p:nvSpPr>
        <p:spPr>
          <a:xfrm>
            <a:off x="4096512" y="2743200"/>
            <a:ext cx="502920" cy="457200"/>
          </a:xfrm>
          <a:prstGeom prst="rect">
            <a:avLst/>
          </a:prstGeom>
          <a:noFill/>
        </p:spPr>
        <p:txBody>
          <a:bodyPr wrap="square" lIns="36576" rIns="36576" tIns="36576" bIns="36576" anchor="t">
            <a:spAutoFit/>
          </a:bodyPr>
          <a:lstStyle/>
          <a:p>
            <a:pPr algn="ctr">
              <a:spcAft>
                <a:spcPts val="500"/>
              </a:spcAft>
            </a:pPr>
            <a:r>
              <a:rPr sz="2800" b="1" i="0">
                <a:solidFill>
                  <a:srgbClr val="E66D53"/>
                </a:solidFill>
                <a:latin typeface="Aptos"/>
              </a:rPr>
              <a:t>→</a:t>
            </a:r>
          </a:p>
        </p:txBody>
      </p:sp>
      <p:sp>
        <p:nvSpPr>
          <p:cNvPr id="21" name="TextBox 20"/>
          <p:cNvSpPr txBox="1"/>
          <p:nvPr/>
        </p:nvSpPr>
        <p:spPr>
          <a:xfrm>
            <a:off x="4096512" y="4425696"/>
            <a:ext cx="502920" cy="457200"/>
          </a:xfrm>
          <a:prstGeom prst="rect">
            <a:avLst/>
          </a:prstGeom>
          <a:noFill/>
        </p:spPr>
        <p:txBody>
          <a:bodyPr wrap="square" lIns="36576" rIns="36576" tIns="36576" bIns="36576" anchor="t">
            <a:spAutoFit/>
          </a:bodyPr>
          <a:lstStyle/>
          <a:p>
            <a:pPr algn="ctr">
              <a:spcAft>
                <a:spcPts val="500"/>
              </a:spcAft>
            </a:pPr>
            <a:r>
              <a:rPr sz="2800" b="1" i="0">
                <a:solidFill>
                  <a:srgbClr val="E66D53"/>
                </a:solidFill>
                <a:latin typeface="Aptos"/>
              </a:rPr>
              <a:t>→</a:t>
            </a:r>
          </a:p>
        </p:txBody>
      </p:sp>
      <p:sp>
        <p:nvSpPr>
          <p:cNvPr id="22" name="Rounded Rectangle 21"/>
          <p:cNvSpPr/>
          <p:nvPr/>
        </p:nvSpPr>
        <p:spPr>
          <a:xfrm>
            <a:off x="4681728" y="2487168"/>
            <a:ext cx="2880360" cy="1115568"/>
          </a:xfrm>
          <a:prstGeom prst="roundRect">
            <a:avLst>
              <a:gd name="adj" fmla="val 8000"/>
            </a:avLst>
          </a:prstGeom>
          <a:solidFill>
            <a:srgbClr val="E5F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681728" y="2487168"/>
            <a:ext cx="64008" cy="1115568"/>
          </a:xfrm>
          <a:prstGeom prst="roundRect">
            <a:avLst>
              <a:gd name="adj" fmla="val 8000"/>
            </a:avLst>
          </a:prstGeom>
          <a:solidFill>
            <a:srgbClr val="173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82896" y="2624328"/>
            <a:ext cx="2496312" cy="320040"/>
          </a:xfrm>
          <a:prstGeom prst="rect">
            <a:avLst/>
          </a:prstGeom>
          <a:noFill/>
        </p:spPr>
        <p:txBody>
          <a:bodyPr wrap="square" lIns="36576" rIns="36576" tIns="36576" bIns="36576" anchor="t">
            <a:spAutoFit/>
          </a:bodyPr>
          <a:lstStyle/>
          <a:p>
            <a:pPr algn="l">
              <a:spcAft>
                <a:spcPts val="500"/>
              </a:spcAft>
            </a:pPr>
            <a:r>
              <a:rPr sz="1600" b="1" i="0">
                <a:solidFill>
                  <a:srgbClr val="17343A"/>
                </a:solidFill>
                <a:latin typeface="Aptos"/>
              </a:rPr>
              <a:t>DECISION SUPPORT</a:t>
            </a:r>
          </a:p>
        </p:txBody>
      </p:sp>
      <p:sp>
        <p:nvSpPr>
          <p:cNvPr id="25" name="TextBox 24"/>
          <p:cNvSpPr txBox="1"/>
          <p:nvPr/>
        </p:nvSpPr>
        <p:spPr>
          <a:xfrm>
            <a:off x="4882896" y="3008376"/>
            <a:ext cx="2496312" cy="493775"/>
          </a:xfrm>
          <a:prstGeom prst="rect">
            <a:avLst/>
          </a:prstGeom>
          <a:noFill/>
        </p:spPr>
        <p:txBody>
          <a:bodyPr wrap="square" lIns="36576" rIns="36576" tIns="36576" bIns="36576" anchor="t">
            <a:spAutoFit/>
          </a:bodyPr>
          <a:lstStyle/>
          <a:p>
            <a:pPr algn="l">
              <a:spcAft>
                <a:spcPts val="500"/>
              </a:spcAft>
            </a:pPr>
            <a:r>
              <a:rPr sz="1200" b="0" i="0">
                <a:solidFill>
                  <a:srgbClr val="526A70"/>
                </a:solidFill>
                <a:latin typeface="Aptos"/>
              </a:rPr>
              <a:t>Qualifying threat flows can be proposed for restriction; QoS rates are computed from the link budget.</a:t>
            </a:r>
          </a:p>
        </p:txBody>
      </p:sp>
      <p:sp>
        <p:nvSpPr>
          <p:cNvPr id="26" name="Rounded Rectangle 25"/>
          <p:cNvSpPr/>
          <p:nvPr/>
        </p:nvSpPr>
        <p:spPr>
          <a:xfrm>
            <a:off x="8092440" y="2487168"/>
            <a:ext cx="3337560" cy="1115568"/>
          </a:xfrm>
          <a:prstGeom prst="roundRect">
            <a:avLst>
              <a:gd name="adj" fmla="val 8000"/>
            </a:avLst>
          </a:prstGeom>
          <a:solidFill>
            <a:srgbClr val="FFFFFF"/>
          </a:solidFill>
          <a:ln>
            <a:solidFill>
              <a:srgbClr val="D5E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092440" y="2487168"/>
            <a:ext cx="64008" cy="1115568"/>
          </a:xfrm>
          <a:prstGeom prst="roundRect">
            <a:avLst>
              <a:gd name="adj" fmla="val 8000"/>
            </a:avLst>
          </a:prstGeom>
          <a:solidFill>
            <a:srgbClr val="087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93608" y="2624328"/>
            <a:ext cx="2953512" cy="320040"/>
          </a:xfrm>
          <a:prstGeom prst="rect">
            <a:avLst/>
          </a:prstGeom>
          <a:noFill/>
        </p:spPr>
        <p:txBody>
          <a:bodyPr wrap="square" lIns="36576" rIns="36576" tIns="36576" bIns="36576" anchor="t">
            <a:spAutoFit/>
          </a:bodyPr>
          <a:lstStyle/>
          <a:p>
            <a:pPr algn="l">
              <a:spcAft>
                <a:spcPts val="500"/>
              </a:spcAft>
            </a:pPr>
            <a:r>
              <a:rPr sz="1600" b="1" i="0">
                <a:solidFill>
                  <a:srgbClr val="17343A"/>
                </a:solidFill>
                <a:latin typeface="Aptos"/>
              </a:rPr>
              <a:t>EDGE AGENT</a:t>
            </a:r>
          </a:p>
        </p:txBody>
      </p:sp>
      <p:sp>
        <p:nvSpPr>
          <p:cNvPr id="29" name="TextBox 28"/>
          <p:cNvSpPr txBox="1"/>
          <p:nvPr/>
        </p:nvSpPr>
        <p:spPr>
          <a:xfrm>
            <a:off x="8293608" y="3008376"/>
            <a:ext cx="2953512" cy="493775"/>
          </a:xfrm>
          <a:prstGeom prst="rect">
            <a:avLst/>
          </a:prstGeom>
          <a:noFill/>
        </p:spPr>
        <p:txBody>
          <a:bodyPr wrap="square" lIns="36576" rIns="36576" tIns="36576" bIns="36576" anchor="t">
            <a:spAutoFit/>
          </a:bodyPr>
          <a:lstStyle/>
          <a:p>
            <a:pPr algn="l">
              <a:spcAft>
                <a:spcPts val="500"/>
              </a:spcAft>
            </a:pPr>
            <a:r>
              <a:rPr sz="1200" b="0" i="0">
                <a:solidFill>
                  <a:srgbClr val="526A70"/>
                </a:solidFill>
                <a:latin typeface="Aptos"/>
              </a:rPr>
              <a:t>Receives class caps; applies local shaping. Optional firewall blocks only a matching qualified flow.</a:t>
            </a:r>
          </a:p>
        </p:txBody>
      </p:sp>
      <p:sp>
        <p:nvSpPr>
          <p:cNvPr id="30" name="TextBox 29"/>
          <p:cNvSpPr txBox="1"/>
          <p:nvPr/>
        </p:nvSpPr>
        <p:spPr>
          <a:xfrm>
            <a:off x="7562088" y="2788920"/>
            <a:ext cx="420624" cy="365760"/>
          </a:xfrm>
          <a:prstGeom prst="rect">
            <a:avLst/>
          </a:prstGeom>
          <a:noFill/>
        </p:spPr>
        <p:txBody>
          <a:bodyPr wrap="square" lIns="36576" rIns="36576" tIns="36576" bIns="36576" anchor="t">
            <a:spAutoFit/>
          </a:bodyPr>
          <a:lstStyle/>
          <a:p>
            <a:pPr algn="ctr">
              <a:spcAft>
                <a:spcPts val="500"/>
              </a:spcAft>
            </a:pPr>
            <a:r>
              <a:rPr sz="2400" b="1" i="0">
                <a:solidFill>
                  <a:srgbClr val="E66D53"/>
                </a:solidFill>
                <a:latin typeface="Aptos"/>
              </a:rPr>
              <a:t>→</a:t>
            </a:r>
          </a:p>
        </p:txBody>
      </p:sp>
      <p:sp>
        <p:nvSpPr>
          <p:cNvPr id="31" name="Rounded Rectangle 30"/>
          <p:cNvSpPr/>
          <p:nvPr/>
        </p:nvSpPr>
        <p:spPr>
          <a:xfrm>
            <a:off x="4690872" y="4160520"/>
            <a:ext cx="6739128" cy="914400"/>
          </a:xfrm>
          <a:prstGeom prst="roundRect">
            <a:avLst>
              <a:gd name="adj" fmla="val 8000"/>
            </a:avLst>
          </a:prstGeom>
          <a:solidFill>
            <a:srgbClr val="F8E9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937760" y="4315968"/>
            <a:ext cx="6272784" cy="594360"/>
          </a:xfrm>
          <a:prstGeom prst="rect">
            <a:avLst/>
          </a:prstGeom>
          <a:noFill/>
        </p:spPr>
        <p:txBody>
          <a:bodyPr wrap="square" lIns="36576" rIns="36576" tIns="36576" bIns="36576" anchor="ctr">
            <a:spAutoFit/>
          </a:bodyPr>
          <a:lstStyle/>
          <a:p>
            <a:pPr algn="l">
              <a:spcAft>
                <a:spcPts val="500"/>
              </a:spcAft>
            </a:pPr>
            <a:r>
              <a:rPr sz="1400" b="1" i="0">
                <a:solidFill>
                  <a:srgbClr val="17343A"/>
                </a:solidFill>
                <a:latin typeface="Aptos"/>
              </a:rPr>
              <a:t>Capacity is not created: stopping a flow can reduce offered load; QoS then apportions the available link budget by configured class priorities.</a:t>
            </a:r>
          </a:p>
        </p:txBody>
      </p:sp>
      <p:sp>
        <p:nvSpPr>
          <p:cNvPr id="33" name="TextBox 32"/>
          <p:cNvSpPr txBox="1"/>
          <p:nvPr/>
        </p:nvSpPr>
        <p:spPr>
          <a:xfrm>
            <a:off x="749808" y="5513832"/>
            <a:ext cx="10561320" cy="493776"/>
          </a:xfrm>
          <a:prstGeom prst="rect">
            <a:avLst/>
          </a:prstGeom>
          <a:noFill/>
        </p:spPr>
        <p:txBody>
          <a:bodyPr wrap="square" lIns="36576" rIns="36576" tIns="36576" bIns="36576" anchor="t">
            <a:spAutoFit/>
          </a:bodyPr>
          <a:lstStyle/>
          <a:p>
            <a:pPr algn="l">
              <a:spcAft>
                <a:spcPts val="500"/>
              </a:spcAft>
            </a:pPr>
            <a:r>
              <a:rPr sz="1100" b="0" i="1">
                <a:solidFill>
                  <a:srgbClr val="526A70"/>
                </a:solidFill>
                <a:latin typeface="Aptos"/>
              </a:rPr>
              <a:t>Important: XGBoost does not currently change the optimizer's priority weights automatically. These are connected in the telemetry/control workflow, not one fused algorithm.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6F1"/>
        </a:solidFill>
        <a:effectLst/>
      </p:bgPr>
    </p:bg>
    <p:spTree>
      <p:nvGrpSpPr>
        <p:cNvPr id="1" name=""/>
        <p:cNvGrpSpPr/>
        <p:nvPr/>
      </p:nvGrpSpPr>
      <p:grpSpPr/>
      <p:sp>
        <p:nvSpPr>
          <p:cNvPr id="2" name="Rounded Rectangle 1"/>
          <p:cNvSpPr/>
          <p:nvPr/>
        </p:nvSpPr>
        <p:spPr>
          <a:xfrm>
            <a:off x="502920" y="310896"/>
            <a:ext cx="310896" cy="310896"/>
          </a:xfrm>
          <a:prstGeom prst="roundRect">
            <a:avLst>
              <a:gd name="adj" fmla="val 8000"/>
            </a:avLst>
          </a:prstGeom>
          <a:solidFill>
            <a:srgbClr val="D7ED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315468"/>
            <a:ext cx="256032" cy="265176"/>
          </a:xfrm>
          <a:prstGeom prst="rect">
            <a:avLst/>
          </a:prstGeom>
          <a:noFill/>
        </p:spPr>
        <p:txBody>
          <a:bodyPr wrap="square" lIns="0" rIns="0" tIns="0" bIns="0" anchor="ctr">
            <a:spAutoFit/>
          </a:bodyPr>
          <a:lstStyle/>
          <a:p>
            <a:pPr algn="ctr">
              <a:spcAft>
                <a:spcPts val="500"/>
              </a:spcAft>
            </a:pPr>
            <a:r>
              <a:rPr sz="1500" b="1" i="0">
                <a:solidFill>
                  <a:srgbClr val="17343A"/>
                </a:solidFill>
                <a:latin typeface="Aptos"/>
              </a:rPr>
              <a:t>N</a:t>
            </a:r>
          </a:p>
        </p:txBody>
      </p:sp>
      <p:sp>
        <p:nvSpPr>
          <p:cNvPr id="4" name="TextBox 3"/>
          <p:cNvSpPr txBox="1"/>
          <p:nvPr/>
        </p:nvSpPr>
        <p:spPr>
          <a:xfrm>
            <a:off x="905256" y="310896"/>
            <a:ext cx="2103120" cy="274320"/>
          </a:xfrm>
          <a:prstGeom prst="rect">
            <a:avLst/>
          </a:prstGeom>
          <a:noFill/>
        </p:spPr>
        <p:txBody>
          <a:bodyPr wrap="square" lIns="36576" rIns="36576" tIns="36576" bIns="36576" anchor="ctr">
            <a:spAutoFit/>
          </a:bodyPr>
          <a:lstStyle/>
          <a:p>
            <a:pPr algn="l">
              <a:spcAft>
                <a:spcPts val="500"/>
              </a:spcAft>
            </a:pPr>
            <a:r>
              <a:rPr sz="1000" b="1" i="0">
                <a:solidFill>
                  <a:srgbClr val="087E78"/>
                </a:solidFill>
                <a:latin typeface="Aptos"/>
              </a:rPr>
              <a:t>NETINSIGHT-X</a:t>
            </a:r>
          </a:p>
        </p:txBody>
      </p:sp>
      <p:sp>
        <p:nvSpPr>
          <p:cNvPr id="5" name="TextBox 4"/>
          <p:cNvSpPr txBox="1"/>
          <p:nvPr/>
        </p:nvSpPr>
        <p:spPr>
          <a:xfrm>
            <a:off x="8321040" y="310896"/>
            <a:ext cx="3337560" cy="274320"/>
          </a:xfrm>
          <a:prstGeom prst="rect">
            <a:avLst/>
          </a:prstGeom>
          <a:noFill/>
        </p:spPr>
        <p:txBody>
          <a:bodyPr wrap="square" lIns="36576" rIns="36576" tIns="36576" bIns="36576" anchor="ctr">
            <a:spAutoFit/>
          </a:bodyPr>
          <a:lstStyle/>
          <a:p>
            <a:pPr algn="r">
              <a:spcAft>
                <a:spcPts val="500"/>
              </a:spcAft>
            </a:pPr>
            <a:r>
              <a:rPr sz="900" b="1" i="0">
                <a:solidFill>
                  <a:srgbClr val="526A70"/>
                </a:solidFill>
                <a:latin typeface="Aptos"/>
              </a:rPr>
              <a:t>MACHINE LEARNING  ·  03</a:t>
            </a:r>
          </a:p>
        </p:txBody>
      </p:sp>
      <p:sp>
        <p:nvSpPr>
          <p:cNvPr id="6" name="TextBox 5"/>
          <p:cNvSpPr txBox="1"/>
          <p:nvPr/>
        </p:nvSpPr>
        <p:spPr>
          <a:xfrm>
            <a:off x="594360" y="786384"/>
            <a:ext cx="10972800" cy="521207"/>
          </a:xfrm>
          <a:prstGeom prst="rect">
            <a:avLst/>
          </a:prstGeom>
          <a:noFill/>
        </p:spPr>
        <p:txBody>
          <a:bodyPr wrap="square" lIns="36576" rIns="36576" tIns="36576" bIns="36576" anchor="ctr">
            <a:spAutoFit/>
          </a:bodyPr>
          <a:lstStyle/>
          <a:p>
            <a:pPr algn="l">
              <a:spcAft>
                <a:spcPts val="500"/>
              </a:spcAft>
            </a:pPr>
            <a:r>
              <a:rPr sz="2800" b="1" i="0">
                <a:solidFill>
                  <a:srgbClr val="17343A"/>
                </a:solidFill>
                <a:latin typeface="Aptos"/>
              </a:rPr>
              <a:t>XGBoost: Turning Flow Features into a Label</a:t>
            </a:r>
          </a:p>
        </p:txBody>
      </p:sp>
      <p:sp>
        <p:nvSpPr>
          <p:cNvPr id="7" name="Rectangle 6"/>
          <p:cNvSpPr/>
          <p:nvPr/>
        </p:nvSpPr>
        <p:spPr>
          <a:xfrm>
            <a:off x="612648" y="1399032"/>
            <a:ext cx="685800" cy="41148"/>
          </a:xfrm>
          <a:prstGeom prst="rect">
            <a:avLst/>
          </a:prstGeom>
          <a:solidFill>
            <a:srgbClr val="E66D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6519672"/>
            <a:ext cx="10991088" cy="10972"/>
          </a:xfrm>
          <a:prstGeom prst="rect">
            <a:avLst/>
          </a:prstGeom>
          <a:solidFill>
            <a:srgbClr val="D5E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6565392"/>
            <a:ext cx="5943600" cy="164592"/>
          </a:xfrm>
          <a:prstGeom prst="rect">
            <a:avLst/>
          </a:prstGeom>
          <a:noFill/>
        </p:spPr>
        <p:txBody>
          <a:bodyPr wrap="square" lIns="36576" rIns="36576" tIns="36576" bIns="36576" anchor="ctr">
            <a:spAutoFit/>
          </a:bodyPr>
          <a:lstStyle/>
          <a:p>
            <a:pPr algn="l">
              <a:spcAft>
                <a:spcPts val="500"/>
              </a:spcAft>
            </a:pPr>
            <a:r>
              <a:rPr sz="800" b="1" i="0">
                <a:solidFill>
                  <a:srgbClr val="526A70"/>
                </a:solidFill>
                <a:latin typeface="Aptos"/>
              </a:rPr>
              <a:t>NETINSIGHT-X  |  PROJECT REVIEW</a:t>
            </a:r>
          </a:p>
        </p:txBody>
      </p:sp>
      <p:sp>
        <p:nvSpPr>
          <p:cNvPr id="10" name="TextBox 9"/>
          <p:cNvSpPr txBox="1"/>
          <p:nvPr/>
        </p:nvSpPr>
        <p:spPr>
          <a:xfrm>
            <a:off x="10972800" y="6547104"/>
            <a:ext cx="594360" cy="182880"/>
          </a:xfrm>
          <a:prstGeom prst="rect">
            <a:avLst/>
          </a:prstGeom>
          <a:noFill/>
        </p:spPr>
        <p:txBody>
          <a:bodyPr wrap="square" lIns="36576" rIns="36576" tIns="36576" bIns="36576" anchor="ctr">
            <a:spAutoFit/>
          </a:bodyPr>
          <a:lstStyle/>
          <a:p>
            <a:pPr algn="r">
              <a:spcAft>
                <a:spcPts val="500"/>
              </a:spcAft>
            </a:pPr>
            <a:r>
              <a:rPr sz="900" b="1" i="0">
                <a:solidFill>
                  <a:srgbClr val="526A70"/>
                </a:solidFill>
                <a:latin typeface="Aptos"/>
              </a:rPr>
              <a:t>03</a:t>
            </a:r>
          </a:p>
        </p:txBody>
      </p:sp>
      <p:sp>
        <p:nvSpPr>
          <p:cNvPr id="11" name="Rounded Rectangle 10"/>
          <p:cNvSpPr/>
          <p:nvPr/>
        </p:nvSpPr>
        <p:spPr>
          <a:xfrm>
            <a:off x="713232" y="1719072"/>
            <a:ext cx="4572000" cy="1344168"/>
          </a:xfrm>
          <a:prstGeom prst="roundRect">
            <a:avLst>
              <a:gd name="adj" fmla="val 8000"/>
            </a:avLst>
          </a:prstGeom>
          <a:solidFill>
            <a:srgbClr val="FFFFFF"/>
          </a:solidFill>
          <a:ln>
            <a:solidFill>
              <a:srgbClr val="D5E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13232" y="1719072"/>
            <a:ext cx="64008" cy="1344168"/>
          </a:xfrm>
          <a:prstGeom prst="roundRect">
            <a:avLst>
              <a:gd name="adj" fmla="val 8000"/>
            </a:avLst>
          </a:prstGeom>
          <a:solidFill>
            <a:srgbClr val="087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1856231"/>
            <a:ext cx="4187952" cy="320040"/>
          </a:xfrm>
          <a:prstGeom prst="rect">
            <a:avLst/>
          </a:prstGeom>
          <a:noFill/>
        </p:spPr>
        <p:txBody>
          <a:bodyPr wrap="square" lIns="36576" rIns="36576" tIns="36576" bIns="36576" anchor="t">
            <a:spAutoFit/>
          </a:bodyPr>
          <a:lstStyle/>
          <a:p>
            <a:pPr algn="l">
              <a:spcAft>
                <a:spcPts val="500"/>
              </a:spcAft>
            </a:pPr>
            <a:r>
              <a:rPr sz="1600" b="1" i="0">
                <a:solidFill>
                  <a:srgbClr val="17343A"/>
                </a:solidFill>
                <a:latin typeface="Aptos"/>
              </a:rPr>
              <a:t>FEATURE VECTOR x</a:t>
            </a:r>
          </a:p>
        </p:txBody>
      </p:sp>
      <p:sp>
        <p:nvSpPr>
          <p:cNvPr id="14" name="TextBox 13"/>
          <p:cNvSpPr txBox="1"/>
          <p:nvPr/>
        </p:nvSpPr>
        <p:spPr>
          <a:xfrm>
            <a:off x="914400" y="2240279"/>
            <a:ext cx="4187952" cy="722375"/>
          </a:xfrm>
          <a:prstGeom prst="rect">
            <a:avLst/>
          </a:prstGeom>
          <a:noFill/>
        </p:spPr>
        <p:txBody>
          <a:bodyPr wrap="square" lIns="36576" rIns="36576" tIns="36576" bIns="36576" anchor="t">
            <a:spAutoFit/>
          </a:bodyPr>
          <a:lstStyle/>
          <a:p>
            <a:pPr algn="l">
              <a:spcAft>
                <a:spcPts val="500"/>
              </a:spcAft>
            </a:pPr>
            <a:r>
              <a:rPr sz="1400" b="0" i="0">
                <a:solidFill>
                  <a:srgbClr val="526A70"/>
                </a:solidFill>
                <a:latin typeface="Aptos"/>
              </a:rPr>
              <a:t>Average size · packet rate · cumulative header length · packet-count feature · protocol number</a:t>
            </a:r>
          </a:p>
        </p:txBody>
      </p:sp>
      <p:sp>
        <p:nvSpPr>
          <p:cNvPr id="15" name="Rounded Rectangle 14"/>
          <p:cNvSpPr/>
          <p:nvPr/>
        </p:nvSpPr>
        <p:spPr>
          <a:xfrm>
            <a:off x="713232" y="3410712"/>
            <a:ext cx="4572000" cy="1234440"/>
          </a:xfrm>
          <a:prstGeom prst="roundRect">
            <a:avLst>
              <a:gd name="adj" fmla="val 8000"/>
            </a:avLst>
          </a:prstGeom>
          <a:solidFill>
            <a:srgbClr val="FFFFFF"/>
          </a:solidFill>
          <a:ln>
            <a:solidFill>
              <a:srgbClr val="D5E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13232" y="3410712"/>
            <a:ext cx="64008" cy="1234440"/>
          </a:xfrm>
          <a:prstGeom prst="roundRect">
            <a:avLst>
              <a:gd name="adj" fmla="val 8000"/>
            </a:avLst>
          </a:prstGeom>
          <a:solidFill>
            <a:srgbClr val="E66D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547872"/>
            <a:ext cx="4187952" cy="320040"/>
          </a:xfrm>
          <a:prstGeom prst="rect">
            <a:avLst/>
          </a:prstGeom>
          <a:noFill/>
        </p:spPr>
        <p:txBody>
          <a:bodyPr wrap="square" lIns="36576" rIns="36576" tIns="36576" bIns="36576" anchor="t">
            <a:spAutoFit/>
          </a:bodyPr>
          <a:lstStyle/>
          <a:p>
            <a:pPr algn="l">
              <a:spcAft>
                <a:spcPts val="500"/>
              </a:spcAft>
            </a:pPr>
            <a:r>
              <a:rPr sz="1600" b="1" i="0">
                <a:solidFill>
                  <a:srgbClr val="17343A"/>
                </a:solidFill>
                <a:latin typeface="Aptos"/>
              </a:rPr>
              <a:t>BOOSTED TREES</a:t>
            </a:r>
          </a:p>
        </p:txBody>
      </p:sp>
      <p:sp>
        <p:nvSpPr>
          <p:cNvPr id="18" name="TextBox 17"/>
          <p:cNvSpPr txBox="1"/>
          <p:nvPr/>
        </p:nvSpPr>
        <p:spPr>
          <a:xfrm>
            <a:off x="914400" y="3931920"/>
            <a:ext cx="4187952" cy="612648"/>
          </a:xfrm>
          <a:prstGeom prst="rect">
            <a:avLst/>
          </a:prstGeom>
          <a:noFill/>
        </p:spPr>
        <p:txBody>
          <a:bodyPr wrap="square" lIns="36576" rIns="36576" tIns="36576" bIns="36576" anchor="t">
            <a:spAutoFit/>
          </a:bodyPr>
          <a:lstStyle/>
          <a:p>
            <a:pPr algn="l">
              <a:spcAft>
                <a:spcPts val="500"/>
              </a:spcAft>
            </a:pPr>
            <a:r>
              <a:rPr sz="1400" b="0" i="0">
                <a:solidFill>
                  <a:srgbClr val="526A70"/>
                </a:solidFill>
                <a:latin typeface="Aptos"/>
              </a:rPr>
              <a:t>Each decision tree contributes a score. Many small tree decisions combine into class scores.</a:t>
            </a:r>
          </a:p>
        </p:txBody>
      </p:sp>
      <p:sp>
        <p:nvSpPr>
          <p:cNvPr id="19" name="TextBox 18"/>
          <p:cNvSpPr txBox="1"/>
          <p:nvPr/>
        </p:nvSpPr>
        <p:spPr>
          <a:xfrm>
            <a:off x="5477256" y="2112264"/>
            <a:ext cx="658368" cy="438912"/>
          </a:xfrm>
          <a:prstGeom prst="rect">
            <a:avLst/>
          </a:prstGeom>
          <a:noFill/>
        </p:spPr>
        <p:txBody>
          <a:bodyPr wrap="square" lIns="36576" rIns="36576" tIns="36576" bIns="36576" anchor="t">
            <a:spAutoFit/>
          </a:bodyPr>
          <a:lstStyle/>
          <a:p>
            <a:pPr algn="ctr">
              <a:spcAft>
                <a:spcPts val="500"/>
              </a:spcAft>
            </a:pPr>
            <a:r>
              <a:rPr sz="2800" b="1" i="0">
                <a:solidFill>
                  <a:srgbClr val="E66D53"/>
                </a:solidFill>
                <a:latin typeface="Aptos"/>
              </a:rPr>
              <a:t>→</a:t>
            </a:r>
          </a:p>
        </p:txBody>
      </p:sp>
      <p:sp>
        <p:nvSpPr>
          <p:cNvPr id="20" name="TextBox 19"/>
          <p:cNvSpPr txBox="1"/>
          <p:nvPr/>
        </p:nvSpPr>
        <p:spPr>
          <a:xfrm>
            <a:off x="5477256" y="3749039"/>
            <a:ext cx="658368" cy="438912"/>
          </a:xfrm>
          <a:prstGeom prst="rect">
            <a:avLst/>
          </a:prstGeom>
          <a:noFill/>
        </p:spPr>
        <p:txBody>
          <a:bodyPr wrap="square" lIns="36576" rIns="36576" tIns="36576" bIns="36576" anchor="t">
            <a:spAutoFit/>
          </a:bodyPr>
          <a:lstStyle/>
          <a:p>
            <a:pPr algn="ctr">
              <a:spcAft>
                <a:spcPts val="500"/>
              </a:spcAft>
            </a:pPr>
            <a:r>
              <a:rPr sz="2800" b="1" i="0">
                <a:solidFill>
                  <a:srgbClr val="E66D53"/>
                </a:solidFill>
                <a:latin typeface="Aptos"/>
              </a:rPr>
              <a:t>→</a:t>
            </a:r>
          </a:p>
        </p:txBody>
      </p:sp>
      <p:sp>
        <p:nvSpPr>
          <p:cNvPr id="21" name="Rounded Rectangle 20"/>
          <p:cNvSpPr/>
          <p:nvPr/>
        </p:nvSpPr>
        <p:spPr>
          <a:xfrm>
            <a:off x="6263640" y="1746504"/>
            <a:ext cx="4892040" cy="1161288"/>
          </a:xfrm>
          <a:prstGeom prst="roundRect">
            <a:avLst>
              <a:gd name="adj" fmla="val 8000"/>
            </a:avLst>
          </a:prstGeom>
          <a:solidFill>
            <a:srgbClr val="173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1837943"/>
            <a:ext cx="4562855" cy="228600"/>
          </a:xfrm>
          <a:prstGeom prst="rect">
            <a:avLst/>
          </a:prstGeom>
          <a:noFill/>
        </p:spPr>
        <p:txBody>
          <a:bodyPr wrap="square" lIns="36576" rIns="36576" tIns="36576" bIns="36576" anchor="t">
            <a:spAutoFit/>
          </a:bodyPr>
          <a:lstStyle/>
          <a:p>
            <a:pPr algn="l">
              <a:spcAft>
                <a:spcPts val="500"/>
              </a:spcAft>
            </a:pPr>
            <a:r>
              <a:rPr sz="900" b="1" i="0">
                <a:solidFill>
                  <a:srgbClr val="D7ED76"/>
                </a:solidFill>
                <a:latin typeface="Aptos"/>
              </a:rPr>
              <a:t>CLASS SCORE</a:t>
            </a:r>
          </a:p>
        </p:txBody>
      </p:sp>
      <p:sp>
        <p:nvSpPr>
          <p:cNvPr id="23" name="TextBox 22"/>
          <p:cNvSpPr txBox="1"/>
          <p:nvPr/>
        </p:nvSpPr>
        <p:spPr>
          <a:xfrm>
            <a:off x="6428231" y="2130552"/>
            <a:ext cx="4562855" cy="704088"/>
          </a:xfrm>
          <a:prstGeom prst="rect">
            <a:avLst/>
          </a:prstGeom>
          <a:noFill/>
        </p:spPr>
        <p:txBody>
          <a:bodyPr wrap="square" lIns="36576" rIns="36576" tIns="36576" bIns="36576" anchor="ctr">
            <a:spAutoFit/>
          </a:bodyPr>
          <a:lstStyle/>
          <a:p>
            <a:pPr algn="l">
              <a:spcAft>
                <a:spcPts val="500"/>
              </a:spcAft>
            </a:pPr>
            <a:r>
              <a:rPr sz="2100" b="1" i="0">
                <a:solidFill>
                  <a:srgbClr val="FFFFFF"/>
                </a:solidFill>
                <a:latin typeface="Aptos"/>
              </a:rPr>
              <a:t>Fₖ(x) = Σₜ fₜ,ₖ(x)</a:t>
            </a:r>
          </a:p>
        </p:txBody>
      </p:sp>
      <p:sp>
        <p:nvSpPr>
          <p:cNvPr id="24" name="Rounded Rectangle 23"/>
          <p:cNvSpPr/>
          <p:nvPr/>
        </p:nvSpPr>
        <p:spPr>
          <a:xfrm>
            <a:off x="6263640" y="3136392"/>
            <a:ext cx="4892040" cy="1161288"/>
          </a:xfrm>
          <a:prstGeom prst="roundRect">
            <a:avLst>
              <a:gd name="adj" fmla="val 8000"/>
            </a:avLst>
          </a:prstGeom>
          <a:solidFill>
            <a:srgbClr val="173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28231" y="3227832"/>
            <a:ext cx="4562855" cy="228600"/>
          </a:xfrm>
          <a:prstGeom prst="rect">
            <a:avLst/>
          </a:prstGeom>
          <a:noFill/>
        </p:spPr>
        <p:txBody>
          <a:bodyPr wrap="square" lIns="36576" rIns="36576" tIns="36576" bIns="36576" anchor="t">
            <a:spAutoFit/>
          </a:bodyPr>
          <a:lstStyle/>
          <a:p>
            <a:pPr algn="l">
              <a:spcAft>
                <a:spcPts val="500"/>
              </a:spcAft>
            </a:pPr>
            <a:r>
              <a:rPr sz="900" b="1" i="0">
                <a:solidFill>
                  <a:srgbClr val="D7ED76"/>
                </a:solidFill>
                <a:latin typeface="Aptos"/>
              </a:rPr>
              <a:t>CONVERT SCORES TO PROBABILITIES</a:t>
            </a:r>
          </a:p>
        </p:txBody>
      </p:sp>
      <p:sp>
        <p:nvSpPr>
          <p:cNvPr id="26" name="TextBox 25"/>
          <p:cNvSpPr txBox="1"/>
          <p:nvPr/>
        </p:nvSpPr>
        <p:spPr>
          <a:xfrm>
            <a:off x="6428231" y="3520440"/>
            <a:ext cx="4562855" cy="704088"/>
          </a:xfrm>
          <a:prstGeom prst="rect">
            <a:avLst/>
          </a:prstGeom>
          <a:noFill/>
        </p:spPr>
        <p:txBody>
          <a:bodyPr wrap="square" lIns="36576" rIns="36576" tIns="36576" bIns="36576" anchor="ctr">
            <a:spAutoFit/>
          </a:bodyPr>
          <a:lstStyle/>
          <a:p>
            <a:pPr algn="l">
              <a:spcAft>
                <a:spcPts val="500"/>
              </a:spcAft>
            </a:pPr>
            <a:r>
              <a:rPr sz="1800" b="1" i="0">
                <a:solidFill>
                  <a:srgbClr val="FFFFFF"/>
                </a:solidFill>
                <a:latin typeface="Aptos"/>
              </a:rPr>
              <a:t>pₖ = exp(Fₖ) / Σⱼ exp(Fⱼ)</a:t>
            </a:r>
          </a:p>
        </p:txBody>
      </p:sp>
      <p:sp>
        <p:nvSpPr>
          <p:cNvPr id="27" name="Rounded Rectangle 26"/>
          <p:cNvSpPr/>
          <p:nvPr/>
        </p:nvSpPr>
        <p:spPr>
          <a:xfrm>
            <a:off x="6263640" y="4553712"/>
            <a:ext cx="4892040" cy="804672"/>
          </a:xfrm>
          <a:prstGeom prst="roundRect">
            <a:avLst>
              <a:gd name="adj" fmla="val 8000"/>
            </a:avLst>
          </a:prstGeom>
          <a:solidFill>
            <a:srgbClr val="E5F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55664" y="4700016"/>
            <a:ext cx="4498848" cy="502920"/>
          </a:xfrm>
          <a:prstGeom prst="rect">
            <a:avLst/>
          </a:prstGeom>
          <a:noFill/>
        </p:spPr>
        <p:txBody>
          <a:bodyPr wrap="square" lIns="36576" rIns="36576" tIns="36576" bIns="36576" anchor="ctr">
            <a:spAutoFit/>
          </a:bodyPr>
          <a:lstStyle/>
          <a:p>
            <a:pPr algn="l">
              <a:spcAft>
                <a:spcPts val="500"/>
              </a:spcAft>
            </a:pPr>
            <a:r>
              <a:rPr sz="1400" b="1" i="0">
                <a:solidFill>
                  <a:srgbClr val="17343A"/>
                </a:solidFill>
                <a:latin typeface="Aptos"/>
              </a:rPr>
              <a:t>ŷ = argmaxₖ pₖ     ·     threat gate: confidence ≥ 0.80 and ≥ 5 packets</a:t>
            </a:r>
          </a:p>
        </p:txBody>
      </p:sp>
      <p:sp>
        <p:nvSpPr>
          <p:cNvPr id="29" name="TextBox 28"/>
          <p:cNvSpPr txBox="1"/>
          <p:nvPr/>
        </p:nvSpPr>
        <p:spPr>
          <a:xfrm>
            <a:off x="749808" y="5166360"/>
            <a:ext cx="4983480" cy="411480"/>
          </a:xfrm>
          <a:prstGeom prst="rect">
            <a:avLst/>
          </a:prstGeom>
          <a:noFill/>
        </p:spPr>
        <p:txBody>
          <a:bodyPr wrap="square" lIns="36576" rIns="36576" tIns="36576" bIns="36576" anchor="t">
            <a:spAutoFit/>
          </a:bodyPr>
          <a:lstStyle/>
          <a:p>
            <a:pPr algn="l">
              <a:spcAft>
                <a:spcPts val="500"/>
              </a:spcAft>
            </a:pPr>
            <a:r>
              <a:rPr sz="1200" b="1" i="0">
                <a:solidFill>
                  <a:srgbClr val="526A70"/>
                </a:solidFill>
                <a:latin typeface="Aptos"/>
              </a:rPr>
              <a:t>Model outputs: Normal · DoS/DDoS · Mirai · Recon · Brute Force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F6F1"/>
        </a:solidFill>
        <a:effectLst/>
      </p:bgPr>
    </p:bg>
    <p:spTree>
      <p:nvGrpSpPr>
        <p:cNvPr id="1" name=""/>
        <p:cNvGrpSpPr/>
        <p:nvPr/>
      </p:nvGrpSpPr>
      <p:grpSpPr/>
      <p:sp>
        <p:nvSpPr>
          <p:cNvPr id="2" name="Rounded Rectangle 1"/>
          <p:cNvSpPr/>
          <p:nvPr/>
        </p:nvSpPr>
        <p:spPr>
          <a:xfrm>
            <a:off x="502920" y="310896"/>
            <a:ext cx="310896" cy="310896"/>
          </a:xfrm>
          <a:prstGeom prst="roundRect">
            <a:avLst>
              <a:gd name="adj" fmla="val 8000"/>
            </a:avLst>
          </a:prstGeom>
          <a:solidFill>
            <a:srgbClr val="D7ED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315468"/>
            <a:ext cx="256032" cy="265176"/>
          </a:xfrm>
          <a:prstGeom prst="rect">
            <a:avLst/>
          </a:prstGeom>
          <a:noFill/>
        </p:spPr>
        <p:txBody>
          <a:bodyPr wrap="square" lIns="0" rIns="0" tIns="0" bIns="0" anchor="ctr">
            <a:spAutoFit/>
          </a:bodyPr>
          <a:lstStyle/>
          <a:p>
            <a:pPr algn="ctr">
              <a:spcAft>
                <a:spcPts val="500"/>
              </a:spcAft>
            </a:pPr>
            <a:r>
              <a:rPr sz="1500" b="1" i="0">
                <a:solidFill>
                  <a:srgbClr val="17343A"/>
                </a:solidFill>
                <a:latin typeface="Aptos"/>
              </a:rPr>
              <a:t>N</a:t>
            </a:r>
          </a:p>
        </p:txBody>
      </p:sp>
      <p:sp>
        <p:nvSpPr>
          <p:cNvPr id="4" name="TextBox 3"/>
          <p:cNvSpPr txBox="1"/>
          <p:nvPr/>
        </p:nvSpPr>
        <p:spPr>
          <a:xfrm>
            <a:off x="905256" y="310896"/>
            <a:ext cx="2103120" cy="274320"/>
          </a:xfrm>
          <a:prstGeom prst="rect">
            <a:avLst/>
          </a:prstGeom>
          <a:noFill/>
        </p:spPr>
        <p:txBody>
          <a:bodyPr wrap="square" lIns="36576" rIns="36576" tIns="36576" bIns="36576" anchor="ctr">
            <a:spAutoFit/>
          </a:bodyPr>
          <a:lstStyle/>
          <a:p>
            <a:pPr algn="l">
              <a:spcAft>
                <a:spcPts val="500"/>
              </a:spcAft>
            </a:pPr>
            <a:r>
              <a:rPr sz="1000" b="1" i="0">
                <a:solidFill>
                  <a:srgbClr val="087E78"/>
                </a:solidFill>
                <a:latin typeface="Aptos"/>
              </a:rPr>
              <a:t>NETINSIGHT-X</a:t>
            </a:r>
          </a:p>
        </p:txBody>
      </p:sp>
      <p:sp>
        <p:nvSpPr>
          <p:cNvPr id="5" name="TextBox 4"/>
          <p:cNvSpPr txBox="1"/>
          <p:nvPr/>
        </p:nvSpPr>
        <p:spPr>
          <a:xfrm>
            <a:off x="8321040" y="310896"/>
            <a:ext cx="3337560" cy="274320"/>
          </a:xfrm>
          <a:prstGeom prst="rect">
            <a:avLst/>
          </a:prstGeom>
          <a:noFill/>
        </p:spPr>
        <p:txBody>
          <a:bodyPr wrap="square" lIns="36576" rIns="36576" tIns="36576" bIns="36576" anchor="ctr">
            <a:spAutoFit/>
          </a:bodyPr>
          <a:lstStyle/>
          <a:p>
            <a:pPr algn="r">
              <a:spcAft>
                <a:spcPts val="500"/>
              </a:spcAft>
            </a:pPr>
            <a:r>
              <a:rPr sz="900" b="1" i="0">
                <a:solidFill>
                  <a:srgbClr val="526A70"/>
                </a:solidFill>
                <a:latin typeface="Aptos"/>
              </a:rPr>
              <a:t>MODEL EVIDENCE  ·  04</a:t>
            </a:r>
          </a:p>
        </p:txBody>
      </p:sp>
      <p:sp>
        <p:nvSpPr>
          <p:cNvPr id="6" name="TextBox 5"/>
          <p:cNvSpPr txBox="1"/>
          <p:nvPr/>
        </p:nvSpPr>
        <p:spPr>
          <a:xfrm>
            <a:off x="594360" y="786384"/>
            <a:ext cx="10972800" cy="521207"/>
          </a:xfrm>
          <a:prstGeom prst="rect">
            <a:avLst/>
          </a:prstGeom>
          <a:noFill/>
        </p:spPr>
        <p:txBody>
          <a:bodyPr wrap="square" lIns="36576" rIns="36576" tIns="36576" bIns="36576" anchor="ctr">
            <a:spAutoFit/>
          </a:bodyPr>
          <a:lstStyle/>
          <a:p>
            <a:pPr algn="l">
              <a:spcAft>
                <a:spcPts val="500"/>
              </a:spcAft>
            </a:pPr>
            <a:r>
              <a:rPr sz="2800" b="1" i="0">
                <a:solidFill>
                  <a:srgbClr val="17343A"/>
                </a:solidFill>
                <a:latin typeface="Aptos"/>
              </a:rPr>
              <a:t>What the Model Was Trained and Evaluated On</a:t>
            </a:r>
          </a:p>
        </p:txBody>
      </p:sp>
      <p:sp>
        <p:nvSpPr>
          <p:cNvPr id="7" name="Rectangle 6"/>
          <p:cNvSpPr/>
          <p:nvPr/>
        </p:nvSpPr>
        <p:spPr>
          <a:xfrm>
            <a:off x="612648" y="1399032"/>
            <a:ext cx="685800" cy="41148"/>
          </a:xfrm>
          <a:prstGeom prst="rect">
            <a:avLst/>
          </a:prstGeom>
          <a:solidFill>
            <a:srgbClr val="E66D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6519672"/>
            <a:ext cx="10991088" cy="10972"/>
          </a:xfrm>
          <a:prstGeom prst="rect">
            <a:avLst/>
          </a:prstGeom>
          <a:solidFill>
            <a:srgbClr val="D5E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6565392"/>
            <a:ext cx="5943600" cy="164592"/>
          </a:xfrm>
          <a:prstGeom prst="rect">
            <a:avLst/>
          </a:prstGeom>
          <a:noFill/>
        </p:spPr>
        <p:txBody>
          <a:bodyPr wrap="square" lIns="36576" rIns="36576" tIns="36576" bIns="36576" anchor="ctr">
            <a:spAutoFit/>
          </a:bodyPr>
          <a:lstStyle/>
          <a:p>
            <a:pPr algn="l">
              <a:spcAft>
                <a:spcPts val="500"/>
              </a:spcAft>
            </a:pPr>
            <a:r>
              <a:rPr sz="800" b="1" i="0">
                <a:solidFill>
                  <a:srgbClr val="526A70"/>
                </a:solidFill>
                <a:latin typeface="Aptos"/>
              </a:rPr>
              <a:t>NETINSIGHT-X  |  PROJECT REVIEW</a:t>
            </a:r>
          </a:p>
        </p:txBody>
      </p:sp>
      <p:sp>
        <p:nvSpPr>
          <p:cNvPr id="10" name="TextBox 9"/>
          <p:cNvSpPr txBox="1"/>
          <p:nvPr/>
        </p:nvSpPr>
        <p:spPr>
          <a:xfrm>
            <a:off x="10972800" y="6547104"/>
            <a:ext cx="594360" cy="182880"/>
          </a:xfrm>
          <a:prstGeom prst="rect">
            <a:avLst/>
          </a:prstGeom>
          <a:noFill/>
        </p:spPr>
        <p:txBody>
          <a:bodyPr wrap="square" lIns="36576" rIns="36576" tIns="36576" bIns="36576" anchor="ctr">
            <a:spAutoFit/>
          </a:bodyPr>
          <a:lstStyle/>
          <a:p>
            <a:pPr algn="r">
              <a:spcAft>
                <a:spcPts val="500"/>
              </a:spcAft>
            </a:pPr>
            <a:r>
              <a:rPr sz="900" b="1" i="0">
                <a:solidFill>
                  <a:srgbClr val="526A70"/>
                </a:solidFill>
                <a:latin typeface="Aptos"/>
              </a:rPr>
              <a:t>04</a:t>
            </a:r>
          </a:p>
        </p:txBody>
      </p:sp>
      <p:sp>
        <p:nvSpPr>
          <p:cNvPr id="11" name="Rounded Rectangle 10"/>
          <p:cNvSpPr/>
          <p:nvPr/>
        </p:nvSpPr>
        <p:spPr>
          <a:xfrm>
            <a:off x="713232" y="1737360"/>
            <a:ext cx="3063240" cy="1417320"/>
          </a:xfrm>
          <a:prstGeom prst="roundRect">
            <a:avLst>
              <a:gd name="adj" fmla="val 8000"/>
            </a:avLst>
          </a:prstGeom>
          <a:solidFill>
            <a:srgbClr val="FFFFFF"/>
          </a:solidFill>
          <a:ln>
            <a:solidFill>
              <a:srgbClr val="D5E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13232" y="1737360"/>
            <a:ext cx="64008" cy="1417320"/>
          </a:xfrm>
          <a:prstGeom prst="roundRect">
            <a:avLst>
              <a:gd name="adj" fmla="val 8000"/>
            </a:avLst>
          </a:prstGeom>
          <a:solidFill>
            <a:srgbClr val="087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1874519"/>
            <a:ext cx="2679192" cy="320040"/>
          </a:xfrm>
          <a:prstGeom prst="rect">
            <a:avLst/>
          </a:prstGeom>
          <a:noFill/>
        </p:spPr>
        <p:txBody>
          <a:bodyPr wrap="square" lIns="36576" rIns="36576" tIns="36576" bIns="36576" anchor="t">
            <a:spAutoFit/>
          </a:bodyPr>
          <a:lstStyle/>
          <a:p>
            <a:pPr algn="l">
              <a:spcAft>
                <a:spcPts val="500"/>
              </a:spcAft>
            </a:pPr>
            <a:r>
              <a:rPr sz="1600" b="1" i="0">
                <a:solidFill>
                  <a:srgbClr val="17343A"/>
                </a:solidFill>
                <a:latin typeface="Aptos"/>
              </a:rPr>
              <a:t>DATASET</a:t>
            </a:r>
          </a:p>
        </p:txBody>
      </p:sp>
      <p:sp>
        <p:nvSpPr>
          <p:cNvPr id="14" name="TextBox 13"/>
          <p:cNvSpPr txBox="1"/>
          <p:nvPr/>
        </p:nvSpPr>
        <p:spPr>
          <a:xfrm>
            <a:off x="914400" y="2258568"/>
            <a:ext cx="2679192" cy="795528"/>
          </a:xfrm>
          <a:prstGeom prst="rect">
            <a:avLst/>
          </a:prstGeom>
          <a:noFill/>
        </p:spPr>
        <p:txBody>
          <a:bodyPr wrap="square" lIns="36576" rIns="36576" tIns="36576" bIns="36576" anchor="t">
            <a:spAutoFit/>
          </a:bodyPr>
          <a:lstStyle/>
          <a:p>
            <a:pPr algn="l">
              <a:spcAft>
                <a:spcPts val="500"/>
              </a:spcAft>
            </a:pPr>
            <a:r>
              <a:rPr sz="1500" b="0" i="0">
                <a:solidFill>
                  <a:srgbClr val="526A70"/>
                </a:solidFill>
                <a:latin typeface="Aptos"/>
              </a:rPr>
              <a:t>CICIoT2023 prepared splits</a:t>
            </a:r>
          </a:p>
        </p:txBody>
      </p:sp>
      <p:sp>
        <p:nvSpPr>
          <p:cNvPr id="15" name="Rounded Rectangle 14"/>
          <p:cNvSpPr/>
          <p:nvPr/>
        </p:nvSpPr>
        <p:spPr>
          <a:xfrm>
            <a:off x="4133087" y="1737360"/>
            <a:ext cx="3063240" cy="1417320"/>
          </a:xfrm>
          <a:prstGeom prst="roundRect">
            <a:avLst>
              <a:gd name="adj" fmla="val 8000"/>
            </a:avLst>
          </a:prstGeom>
          <a:solidFill>
            <a:srgbClr val="FFFFFF"/>
          </a:solidFill>
          <a:ln>
            <a:solidFill>
              <a:srgbClr val="D5E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133087" y="1737360"/>
            <a:ext cx="64008" cy="1417320"/>
          </a:xfrm>
          <a:prstGeom prst="roundRect">
            <a:avLst>
              <a:gd name="adj" fmla="val 8000"/>
            </a:avLst>
          </a:prstGeom>
          <a:solidFill>
            <a:srgbClr val="E66D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34255" y="1874519"/>
            <a:ext cx="2679192" cy="320040"/>
          </a:xfrm>
          <a:prstGeom prst="rect">
            <a:avLst/>
          </a:prstGeom>
          <a:noFill/>
        </p:spPr>
        <p:txBody>
          <a:bodyPr wrap="square" lIns="36576" rIns="36576" tIns="36576" bIns="36576" anchor="t">
            <a:spAutoFit/>
          </a:bodyPr>
          <a:lstStyle/>
          <a:p>
            <a:pPr algn="l">
              <a:spcAft>
                <a:spcPts val="500"/>
              </a:spcAft>
            </a:pPr>
            <a:r>
              <a:rPr sz="1600" b="1" i="0">
                <a:solidFill>
                  <a:srgbClr val="17343A"/>
                </a:solidFill>
                <a:latin typeface="Aptos"/>
              </a:rPr>
              <a:t>SPLITS</a:t>
            </a:r>
          </a:p>
        </p:txBody>
      </p:sp>
      <p:sp>
        <p:nvSpPr>
          <p:cNvPr id="18" name="TextBox 17"/>
          <p:cNvSpPr txBox="1"/>
          <p:nvPr/>
        </p:nvSpPr>
        <p:spPr>
          <a:xfrm>
            <a:off x="4334255" y="2258568"/>
            <a:ext cx="2679192" cy="795528"/>
          </a:xfrm>
          <a:prstGeom prst="rect">
            <a:avLst/>
          </a:prstGeom>
          <a:noFill/>
        </p:spPr>
        <p:txBody>
          <a:bodyPr wrap="square" lIns="36576" rIns="36576" tIns="36576" bIns="36576" anchor="t">
            <a:spAutoFit/>
          </a:bodyPr>
          <a:lstStyle/>
          <a:p>
            <a:pPr algn="l">
              <a:spcAft>
                <a:spcPts val="500"/>
              </a:spcAft>
            </a:pPr>
            <a:r>
              <a:rPr sz="1300" b="0" i="0">
                <a:solidFill>
                  <a:srgbClr val="526A70"/>
                </a:solidFill>
                <a:latin typeface="Aptos"/>
              </a:rPr>
              <a:t>50,000 training · 50,000 validation · 50,000 test samples</a:t>
            </a:r>
          </a:p>
        </p:txBody>
      </p:sp>
      <p:sp>
        <p:nvSpPr>
          <p:cNvPr id="19" name="Rounded Rectangle 18"/>
          <p:cNvSpPr/>
          <p:nvPr/>
        </p:nvSpPr>
        <p:spPr>
          <a:xfrm>
            <a:off x="7552944" y="1737360"/>
            <a:ext cx="3611880" cy="1417320"/>
          </a:xfrm>
          <a:prstGeom prst="roundRect">
            <a:avLst>
              <a:gd name="adj" fmla="val 8000"/>
            </a:avLst>
          </a:prstGeom>
          <a:solidFill>
            <a:srgbClr val="FFFFFF"/>
          </a:solidFill>
          <a:ln>
            <a:solidFill>
              <a:srgbClr val="D5E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552944" y="1737360"/>
            <a:ext cx="64008" cy="1417320"/>
          </a:xfrm>
          <a:prstGeom prst="roundRect">
            <a:avLst>
              <a:gd name="adj" fmla="val 8000"/>
            </a:avLst>
          </a:prstGeom>
          <a:solidFill>
            <a:srgbClr val="173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54112" y="1874519"/>
            <a:ext cx="3227832" cy="320040"/>
          </a:xfrm>
          <a:prstGeom prst="rect">
            <a:avLst/>
          </a:prstGeom>
          <a:noFill/>
        </p:spPr>
        <p:txBody>
          <a:bodyPr wrap="square" lIns="36576" rIns="36576" tIns="36576" bIns="36576" anchor="t">
            <a:spAutoFit/>
          </a:bodyPr>
          <a:lstStyle/>
          <a:p>
            <a:pPr algn="l">
              <a:spcAft>
                <a:spcPts val="500"/>
              </a:spcAft>
            </a:pPr>
            <a:r>
              <a:rPr sz="1600" b="1" i="0">
                <a:solidFill>
                  <a:srgbClr val="17343A"/>
                </a:solidFill>
                <a:latin typeface="Aptos"/>
              </a:rPr>
              <a:t>MODEL</a:t>
            </a:r>
          </a:p>
        </p:txBody>
      </p:sp>
      <p:sp>
        <p:nvSpPr>
          <p:cNvPr id="22" name="TextBox 21"/>
          <p:cNvSpPr txBox="1"/>
          <p:nvPr/>
        </p:nvSpPr>
        <p:spPr>
          <a:xfrm>
            <a:off x="7754112" y="2258568"/>
            <a:ext cx="3227832" cy="795528"/>
          </a:xfrm>
          <a:prstGeom prst="rect">
            <a:avLst/>
          </a:prstGeom>
          <a:noFill/>
        </p:spPr>
        <p:txBody>
          <a:bodyPr wrap="square" lIns="36576" rIns="36576" tIns="36576" bIns="36576" anchor="t">
            <a:spAutoFit/>
          </a:bodyPr>
          <a:lstStyle/>
          <a:p>
            <a:pPr algn="l">
              <a:spcAft>
                <a:spcPts val="500"/>
              </a:spcAft>
            </a:pPr>
            <a:r>
              <a:rPr sz="1400" b="0" i="0">
                <a:solidFill>
                  <a:srgbClr val="526A70"/>
                </a:solidFill>
                <a:latin typeface="Aptos"/>
              </a:rPr>
              <a:t>XGBoost multiclass classifier; five output classes</a:t>
            </a:r>
          </a:p>
        </p:txBody>
      </p:sp>
      <p:sp>
        <p:nvSpPr>
          <p:cNvPr id="23" name="TextBox 22"/>
          <p:cNvSpPr txBox="1"/>
          <p:nvPr/>
        </p:nvSpPr>
        <p:spPr>
          <a:xfrm>
            <a:off x="749808" y="3511296"/>
            <a:ext cx="10241280" cy="347472"/>
          </a:xfrm>
          <a:prstGeom prst="rect">
            <a:avLst/>
          </a:prstGeom>
          <a:noFill/>
        </p:spPr>
        <p:txBody>
          <a:bodyPr wrap="square" lIns="36576" rIns="36576" tIns="36576" bIns="36576" anchor="t">
            <a:spAutoFit/>
          </a:bodyPr>
          <a:lstStyle/>
          <a:p>
            <a:pPr algn="l">
              <a:spcAft>
                <a:spcPts val="500"/>
              </a:spcAft>
            </a:pPr>
            <a:r>
              <a:rPr sz="1700" b="1" i="0">
                <a:solidFill>
                  <a:srgbClr val="17343A"/>
                </a:solidFill>
                <a:latin typeface="Aptos"/>
              </a:rPr>
              <a:t>Saved evaluation metrics</a:t>
            </a:r>
          </a:p>
        </p:txBody>
      </p:sp>
      <p:sp>
        <p:nvSpPr>
          <p:cNvPr id="24" name="Rounded Rectangle 23"/>
          <p:cNvSpPr/>
          <p:nvPr/>
        </p:nvSpPr>
        <p:spPr>
          <a:xfrm>
            <a:off x="987552" y="4005072"/>
            <a:ext cx="2788920" cy="1024128"/>
          </a:xfrm>
          <a:prstGeom prst="roundRect">
            <a:avLst>
              <a:gd name="adj" fmla="val 8000"/>
            </a:avLst>
          </a:prstGeom>
          <a:solidFill>
            <a:srgbClr val="FFFFFF"/>
          </a:solidFill>
          <a:ln>
            <a:solidFill>
              <a:srgbClr val="D5E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15568" y="4105656"/>
            <a:ext cx="2542032" cy="219456"/>
          </a:xfrm>
          <a:prstGeom prst="rect">
            <a:avLst/>
          </a:prstGeom>
          <a:noFill/>
        </p:spPr>
        <p:txBody>
          <a:bodyPr wrap="square" lIns="36576" rIns="36576" tIns="36576" bIns="36576" anchor="t">
            <a:spAutoFit/>
          </a:bodyPr>
          <a:lstStyle/>
          <a:p>
            <a:pPr algn="ctr">
              <a:spcAft>
                <a:spcPts val="500"/>
              </a:spcAft>
            </a:pPr>
            <a:r>
              <a:rPr sz="1000" b="1" i="0">
                <a:solidFill>
                  <a:srgbClr val="526A70"/>
                </a:solidFill>
                <a:latin typeface="Aptos"/>
              </a:rPr>
              <a:t>TRAIN</a:t>
            </a:r>
          </a:p>
        </p:txBody>
      </p:sp>
      <p:sp>
        <p:nvSpPr>
          <p:cNvPr id="26" name="TextBox 25"/>
          <p:cNvSpPr txBox="1"/>
          <p:nvPr/>
        </p:nvSpPr>
        <p:spPr>
          <a:xfrm>
            <a:off x="1115568" y="4361688"/>
            <a:ext cx="2542032" cy="493776"/>
          </a:xfrm>
          <a:prstGeom prst="rect">
            <a:avLst/>
          </a:prstGeom>
          <a:noFill/>
        </p:spPr>
        <p:txBody>
          <a:bodyPr wrap="square" lIns="36576" rIns="36576" tIns="36576" bIns="36576" anchor="t">
            <a:spAutoFit/>
          </a:bodyPr>
          <a:lstStyle/>
          <a:p>
            <a:pPr algn="ctr">
              <a:spcAft>
                <a:spcPts val="500"/>
              </a:spcAft>
            </a:pPr>
            <a:r>
              <a:rPr sz="2700" b="1" i="0">
                <a:solidFill>
                  <a:srgbClr val="087E78"/>
                </a:solidFill>
                <a:latin typeface="Aptos"/>
              </a:rPr>
              <a:t>99.43%</a:t>
            </a:r>
          </a:p>
        </p:txBody>
      </p:sp>
      <p:sp>
        <p:nvSpPr>
          <p:cNvPr id="27" name="Rounded Rectangle 26"/>
          <p:cNvSpPr/>
          <p:nvPr/>
        </p:nvSpPr>
        <p:spPr>
          <a:xfrm>
            <a:off x="4544568" y="4005072"/>
            <a:ext cx="2788920" cy="1024128"/>
          </a:xfrm>
          <a:prstGeom prst="roundRect">
            <a:avLst>
              <a:gd name="adj" fmla="val 8000"/>
            </a:avLst>
          </a:prstGeom>
          <a:solidFill>
            <a:srgbClr val="FFFFFF"/>
          </a:solidFill>
          <a:ln>
            <a:solidFill>
              <a:srgbClr val="D5E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72583" y="4105656"/>
            <a:ext cx="2542032" cy="219456"/>
          </a:xfrm>
          <a:prstGeom prst="rect">
            <a:avLst/>
          </a:prstGeom>
          <a:noFill/>
        </p:spPr>
        <p:txBody>
          <a:bodyPr wrap="square" lIns="36576" rIns="36576" tIns="36576" bIns="36576" anchor="t">
            <a:spAutoFit/>
          </a:bodyPr>
          <a:lstStyle/>
          <a:p>
            <a:pPr algn="ctr">
              <a:spcAft>
                <a:spcPts val="500"/>
              </a:spcAft>
            </a:pPr>
            <a:r>
              <a:rPr sz="1000" b="1" i="0">
                <a:solidFill>
                  <a:srgbClr val="526A70"/>
                </a:solidFill>
                <a:latin typeface="Aptos"/>
              </a:rPr>
              <a:t>VALIDATION</a:t>
            </a:r>
          </a:p>
        </p:txBody>
      </p:sp>
      <p:sp>
        <p:nvSpPr>
          <p:cNvPr id="29" name="TextBox 28"/>
          <p:cNvSpPr txBox="1"/>
          <p:nvPr/>
        </p:nvSpPr>
        <p:spPr>
          <a:xfrm>
            <a:off x="4672583" y="4361688"/>
            <a:ext cx="2542032" cy="493776"/>
          </a:xfrm>
          <a:prstGeom prst="rect">
            <a:avLst/>
          </a:prstGeom>
          <a:noFill/>
        </p:spPr>
        <p:txBody>
          <a:bodyPr wrap="square" lIns="36576" rIns="36576" tIns="36576" bIns="36576" anchor="t">
            <a:spAutoFit/>
          </a:bodyPr>
          <a:lstStyle/>
          <a:p>
            <a:pPr algn="ctr">
              <a:spcAft>
                <a:spcPts val="500"/>
              </a:spcAft>
            </a:pPr>
            <a:r>
              <a:rPr sz="2700" b="1" i="0">
                <a:solidFill>
                  <a:srgbClr val="E66D53"/>
                </a:solidFill>
                <a:latin typeface="Aptos"/>
              </a:rPr>
              <a:t>98.87%</a:t>
            </a:r>
          </a:p>
        </p:txBody>
      </p:sp>
      <p:sp>
        <p:nvSpPr>
          <p:cNvPr id="30" name="Rounded Rectangle 29"/>
          <p:cNvSpPr/>
          <p:nvPr/>
        </p:nvSpPr>
        <p:spPr>
          <a:xfrm>
            <a:off x="8101583" y="4005072"/>
            <a:ext cx="2788920" cy="1024128"/>
          </a:xfrm>
          <a:prstGeom prst="roundRect">
            <a:avLst>
              <a:gd name="adj" fmla="val 8000"/>
            </a:avLst>
          </a:prstGeom>
          <a:solidFill>
            <a:srgbClr val="FFFFFF"/>
          </a:solidFill>
          <a:ln>
            <a:solidFill>
              <a:srgbClr val="D5E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0" y="4105656"/>
            <a:ext cx="2542032" cy="219456"/>
          </a:xfrm>
          <a:prstGeom prst="rect">
            <a:avLst/>
          </a:prstGeom>
          <a:noFill/>
        </p:spPr>
        <p:txBody>
          <a:bodyPr wrap="square" lIns="36576" rIns="36576" tIns="36576" bIns="36576" anchor="t">
            <a:spAutoFit/>
          </a:bodyPr>
          <a:lstStyle/>
          <a:p>
            <a:pPr algn="ctr">
              <a:spcAft>
                <a:spcPts val="500"/>
              </a:spcAft>
            </a:pPr>
            <a:r>
              <a:rPr sz="1000" b="1" i="0">
                <a:solidFill>
                  <a:srgbClr val="526A70"/>
                </a:solidFill>
                <a:latin typeface="Aptos"/>
              </a:rPr>
              <a:t>TEST</a:t>
            </a:r>
          </a:p>
        </p:txBody>
      </p:sp>
      <p:sp>
        <p:nvSpPr>
          <p:cNvPr id="32" name="TextBox 31"/>
          <p:cNvSpPr txBox="1"/>
          <p:nvPr/>
        </p:nvSpPr>
        <p:spPr>
          <a:xfrm>
            <a:off x="8229600" y="4361688"/>
            <a:ext cx="2542032" cy="493776"/>
          </a:xfrm>
          <a:prstGeom prst="rect">
            <a:avLst/>
          </a:prstGeom>
          <a:noFill/>
        </p:spPr>
        <p:txBody>
          <a:bodyPr wrap="square" lIns="36576" rIns="36576" tIns="36576" bIns="36576" anchor="t">
            <a:spAutoFit/>
          </a:bodyPr>
          <a:lstStyle/>
          <a:p>
            <a:pPr algn="ctr">
              <a:spcAft>
                <a:spcPts val="500"/>
              </a:spcAft>
            </a:pPr>
            <a:r>
              <a:rPr sz="2700" b="1" i="0">
                <a:solidFill>
                  <a:srgbClr val="17343A"/>
                </a:solidFill>
                <a:latin typeface="Aptos"/>
              </a:rPr>
              <a:t>98.70%</a:t>
            </a:r>
          </a:p>
        </p:txBody>
      </p:sp>
      <p:sp>
        <p:nvSpPr>
          <p:cNvPr id="33" name="Rounded Rectangle 32"/>
          <p:cNvSpPr/>
          <p:nvPr/>
        </p:nvSpPr>
        <p:spPr>
          <a:xfrm>
            <a:off x="777240" y="5312664"/>
            <a:ext cx="10332720" cy="594360"/>
          </a:xfrm>
          <a:prstGeom prst="roundRect">
            <a:avLst>
              <a:gd name="adj" fmla="val 8000"/>
            </a:avLst>
          </a:prstGeom>
          <a:solidFill>
            <a:srgbClr val="F8E9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0120" y="5394960"/>
            <a:ext cx="9966960" cy="411480"/>
          </a:xfrm>
          <a:prstGeom prst="rect">
            <a:avLst/>
          </a:prstGeom>
          <a:noFill/>
        </p:spPr>
        <p:txBody>
          <a:bodyPr wrap="square" lIns="36576" rIns="36576" tIns="36576" bIns="36576" anchor="ctr">
            <a:spAutoFit/>
          </a:bodyPr>
          <a:lstStyle/>
          <a:p>
            <a:pPr algn="l">
              <a:spcAft>
                <a:spcPts val="500"/>
              </a:spcAft>
            </a:pPr>
            <a:r>
              <a:rPr sz="1200" b="1" i="0">
                <a:solidFill>
                  <a:srgbClr val="17343A"/>
                </a:solidFill>
                <a:latin typeface="Aptos"/>
              </a:rPr>
              <a:t>Interpretation: 98.70% test accuracy is a result on this prepared split, not a guarantee on every live network.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6F1"/>
        </a:solidFill>
        <a:effectLst/>
      </p:bgPr>
    </p:bg>
    <p:spTree>
      <p:nvGrpSpPr>
        <p:cNvPr id="1" name=""/>
        <p:cNvGrpSpPr/>
        <p:nvPr/>
      </p:nvGrpSpPr>
      <p:grpSpPr/>
      <p:sp>
        <p:nvSpPr>
          <p:cNvPr id="2" name="Rounded Rectangle 1"/>
          <p:cNvSpPr/>
          <p:nvPr/>
        </p:nvSpPr>
        <p:spPr>
          <a:xfrm>
            <a:off x="502920" y="310896"/>
            <a:ext cx="310896" cy="310896"/>
          </a:xfrm>
          <a:prstGeom prst="roundRect">
            <a:avLst>
              <a:gd name="adj" fmla="val 8000"/>
            </a:avLst>
          </a:prstGeom>
          <a:solidFill>
            <a:srgbClr val="D7ED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315468"/>
            <a:ext cx="256032" cy="265176"/>
          </a:xfrm>
          <a:prstGeom prst="rect">
            <a:avLst/>
          </a:prstGeom>
          <a:noFill/>
        </p:spPr>
        <p:txBody>
          <a:bodyPr wrap="square" lIns="0" rIns="0" tIns="0" bIns="0" anchor="ctr">
            <a:spAutoFit/>
          </a:bodyPr>
          <a:lstStyle/>
          <a:p>
            <a:pPr algn="ctr">
              <a:spcAft>
                <a:spcPts val="500"/>
              </a:spcAft>
            </a:pPr>
            <a:r>
              <a:rPr sz="1500" b="1" i="0">
                <a:solidFill>
                  <a:srgbClr val="17343A"/>
                </a:solidFill>
                <a:latin typeface="Aptos"/>
              </a:rPr>
              <a:t>N</a:t>
            </a:r>
          </a:p>
        </p:txBody>
      </p:sp>
      <p:sp>
        <p:nvSpPr>
          <p:cNvPr id="4" name="TextBox 3"/>
          <p:cNvSpPr txBox="1"/>
          <p:nvPr/>
        </p:nvSpPr>
        <p:spPr>
          <a:xfrm>
            <a:off x="905256" y="310896"/>
            <a:ext cx="2103120" cy="274320"/>
          </a:xfrm>
          <a:prstGeom prst="rect">
            <a:avLst/>
          </a:prstGeom>
          <a:noFill/>
        </p:spPr>
        <p:txBody>
          <a:bodyPr wrap="square" lIns="36576" rIns="36576" tIns="36576" bIns="36576" anchor="ctr">
            <a:spAutoFit/>
          </a:bodyPr>
          <a:lstStyle/>
          <a:p>
            <a:pPr algn="l">
              <a:spcAft>
                <a:spcPts val="500"/>
              </a:spcAft>
            </a:pPr>
            <a:r>
              <a:rPr sz="1000" b="1" i="0">
                <a:solidFill>
                  <a:srgbClr val="087E78"/>
                </a:solidFill>
                <a:latin typeface="Aptos"/>
              </a:rPr>
              <a:t>NETINSIGHT-X</a:t>
            </a:r>
          </a:p>
        </p:txBody>
      </p:sp>
      <p:sp>
        <p:nvSpPr>
          <p:cNvPr id="5" name="TextBox 4"/>
          <p:cNvSpPr txBox="1"/>
          <p:nvPr/>
        </p:nvSpPr>
        <p:spPr>
          <a:xfrm>
            <a:off x="8321040" y="310896"/>
            <a:ext cx="3337560" cy="274320"/>
          </a:xfrm>
          <a:prstGeom prst="rect">
            <a:avLst/>
          </a:prstGeom>
          <a:noFill/>
        </p:spPr>
        <p:txBody>
          <a:bodyPr wrap="square" lIns="36576" rIns="36576" tIns="36576" bIns="36576" anchor="ctr">
            <a:spAutoFit/>
          </a:bodyPr>
          <a:lstStyle/>
          <a:p>
            <a:pPr algn="r">
              <a:spcAft>
                <a:spcPts val="500"/>
              </a:spcAft>
            </a:pPr>
            <a:r>
              <a:rPr sz="900" b="1" i="0">
                <a:solidFill>
                  <a:srgbClr val="526A70"/>
                </a:solidFill>
                <a:latin typeface="Aptos"/>
              </a:rPr>
              <a:t>OPTIMIZATION  ·  05</a:t>
            </a:r>
          </a:p>
        </p:txBody>
      </p:sp>
      <p:sp>
        <p:nvSpPr>
          <p:cNvPr id="6" name="TextBox 5"/>
          <p:cNvSpPr txBox="1"/>
          <p:nvPr/>
        </p:nvSpPr>
        <p:spPr>
          <a:xfrm>
            <a:off x="594360" y="786384"/>
            <a:ext cx="10972800" cy="521207"/>
          </a:xfrm>
          <a:prstGeom prst="rect">
            <a:avLst/>
          </a:prstGeom>
          <a:noFill/>
        </p:spPr>
        <p:txBody>
          <a:bodyPr wrap="square" lIns="36576" rIns="36576" tIns="36576" bIns="36576" anchor="ctr">
            <a:spAutoFit/>
          </a:bodyPr>
          <a:lstStyle/>
          <a:p>
            <a:pPr algn="l">
              <a:spcAft>
                <a:spcPts val="500"/>
              </a:spcAft>
            </a:pPr>
            <a:r>
              <a:rPr sz="2800" b="1" i="0">
                <a:solidFill>
                  <a:srgbClr val="17343A"/>
                </a:solidFill>
                <a:latin typeface="Aptos"/>
              </a:rPr>
              <a:t>CVXOPT: The Bandwidth Allocation Problem</a:t>
            </a:r>
          </a:p>
        </p:txBody>
      </p:sp>
      <p:sp>
        <p:nvSpPr>
          <p:cNvPr id="7" name="Rectangle 6"/>
          <p:cNvSpPr/>
          <p:nvPr/>
        </p:nvSpPr>
        <p:spPr>
          <a:xfrm>
            <a:off x="612648" y="1399032"/>
            <a:ext cx="685800" cy="41148"/>
          </a:xfrm>
          <a:prstGeom prst="rect">
            <a:avLst/>
          </a:prstGeom>
          <a:solidFill>
            <a:srgbClr val="E66D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6519672"/>
            <a:ext cx="10991088" cy="10972"/>
          </a:xfrm>
          <a:prstGeom prst="rect">
            <a:avLst/>
          </a:prstGeom>
          <a:solidFill>
            <a:srgbClr val="D5E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6565392"/>
            <a:ext cx="5943600" cy="164592"/>
          </a:xfrm>
          <a:prstGeom prst="rect">
            <a:avLst/>
          </a:prstGeom>
          <a:noFill/>
        </p:spPr>
        <p:txBody>
          <a:bodyPr wrap="square" lIns="36576" rIns="36576" tIns="36576" bIns="36576" anchor="ctr">
            <a:spAutoFit/>
          </a:bodyPr>
          <a:lstStyle/>
          <a:p>
            <a:pPr algn="l">
              <a:spcAft>
                <a:spcPts val="500"/>
              </a:spcAft>
            </a:pPr>
            <a:r>
              <a:rPr sz="800" b="1" i="0">
                <a:solidFill>
                  <a:srgbClr val="526A70"/>
                </a:solidFill>
                <a:latin typeface="Aptos"/>
              </a:rPr>
              <a:t>NETINSIGHT-X  |  PROJECT REVIEW</a:t>
            </a:r>
          </a:p>
        </p:txBody>
      </p:sp>
      <p:sp>
        <p:nvSpPr>
          <p:cNvPr id="10" name="TextBox 9"/>
          <p:cNvSpPr txBox="1"/>
          <p:nvPr/>
        </p:nvSpPr>
        <p:spPr>
          <a:xfrm>
            <a:off x="10972800" y="6547104"/>
            <a:ext cx="594360" cy="182880"/>
          </a:xfrm>
          <a:prstGeom prst="rect">
            <a:avLst/>
          </a:prstGeom>
          <a:noFill/>
        </p:spPr>
        <p:txBody>
          <a:bodyPr wrap="square" lIns="36576" rIns="36576" tIns="36576" bIns="36576" anchor="ctr">
            <a:spAutoFit/>
          </a:bodyPr>
          <a:lstStyle/>
          <a:p>
            <a:pPr algn="r">
              <a:spcAft>
                <a:spcPts val="500"/>
              </a:spcAft>
            </a:pPr>
            <a:r>
              <a:rPr sz="900" b="1" i="0">
                <a:solidFill>
                  <a:srgbClr val="526A70"/>
                </a:solidFill>
                <a:latin typeface="Aptos"/>
              </a:rPr>
              <a:t>05</a:t>
            </a:r>
          </a:p>
        </p:txBody>
      </p:sp>
      <p:sp>
        <p:nvSpPr>
          <p:cNvPr id="11" name="TextBox 10"/>
          <p:cNvSpPr txBox="1"/>
          <p:nvPr/>
        </p:nvSpPr>
        <p:spPr>
          <a:xfrm>
            <a:off x="731520" y="1664208"/>
            <a:ext cx="10332720" cy="438912"/>
          </a:xfrm>
          <a:prstGeom prst="rect">
            <a:avLst/>
          </a:prstGeom>
          <a:noFill/>
        </p:spPr>
        <p:txBody>
          <a:bodyPr wrap="square" lIns="36576" rIns="36576" tIns="36576" bIns="36576" anchor="t">
            <a:spAutoFit/>
          </a:bodyPr>
          <a:lstStyle/>
          <a:p>
            <a:pPr algn="l">
              <a:spcAft>
                <a:spcPts val="500"/>
              </a:spcAft>
            </a:pPr>
            <a:r>
              <a:rPr sz="1600" b="0" i="0">
                <a:solidFill>
                  <a:srgbClr val="526A70"/>
                </a:solidFill>
                <a:latin typeface="Aptos"/>
              </a:rPr>
              <a:t>Let xᵢ be the Mbps assigned to QoS class i; wᵢ is that class's configured priority.</a:t>
            </a:r>
          </a:p>
        </p:txBody>
      </p:sp>
      <p:sp>
        <p:nvSpPr>
          <p:cNvPr id="12" name="Rounded Rectangle 11"/>
          <p:cNvSpPr/>
          <p:nvPr/>
        </p:nvSpPr>
        <p:spPr>
          <a:xfrm>
            <a:off x="749808" y="2331720"/>
            <a:ext cx="5074920" cy="1325880"/>
          </a:xfrm>
          <a:prstGeom prst="roundRect">
            <a:avLst>
              <a:gd name="adj" fmla="val 8000"/>
            </a:avLst>
          </a:prstGeom>
          <a:solidFill>
            <a:srgbClr val="173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2423160"/>
            <a:ext cx="4745736" cy="228600"/>
          </a:xfrm>
          <a:prstGeom prst="rect">
            <a:avLst/>
          </a:prstGeom>
          <a:noFill/>
        </p:spPr>
        <p:txBody>
          <a:bodyPr wrap="square" lIns="36576" rIns="36576" tIns="36576" bIns="36576" anchor="t">
            <a:spAutoFit/>
          </a:bodyPr>
          <a:lstStyle/>
          <a:p>
            <a:pPr algn="l">
              <a:spcAft>
                <a:spcPts val="500"/>
              </a:spcAft>
            </a:pPr>
            <a:r>
              <a:rPr sz="900" b="1" i="0">
                <a:solidFill>
                  <a:srgbClr val="D7ED76"/>
                </a:solidFill>
                <a:latin typeface="Aptos"/>
              </a:rPr>
              <a:t>OBJECTIVE</a:t>
            </a:r>
          </a:p>
        </p:txBody>
      </p:sp>
      <p:sp>
        <p:nvSpPr>
          <p:cNvPr id="14" name="TextBox 13"/>
          <p:cNvSpPr txBox="1"/>
          <p:nvPr/>
        </p:nvSpPr>
        <p:spPr>
          <a:xfrm>
            <a:off x="914400" y="2715768"/>
            <a:ext cx="4745736" cy="868680"/>
          </a:xfrm>
          <a:prstGeom prst="rect">
            <a:avLst/>
          </a:prstGeom>
          <a:noFill/>
        </p:spPr>
        <p:txBody>
          <a:bodyPr wrap="square" lIns="36576" rIns="36576" tIns="36576" bIns="36576" anchor="ctr">
            <a:spAutoFit/>
          </a:bodyPr>
          <a:lstStyle/>
          <a:p>
            <a:pPr algn="l">
              <a:spcAft>
                <a:spcPts val="500"/>
              </a:spcAft>
            </a:pPr>
            <a:r>
              <a:rPr sz="2300" b="1" i="0">
                <a:solidFill>
                  <a:srgbClr val="FFFFFF"/>
                </a:solidFill>
                <a:latin typeface="Aptos"/>
              </a:rPr>
              <a:t>maximize    Σᵢ wᵢ xᵢ</a:t>
            </a:r>
          </a:p>
        </p:txBody>
      </p:sp>
      <p:sp>
        <p:nvSpPr>
          <p:cNvPr id="15" name="Rounded Rectangle 14"/>
          <p:cNvSpPr/>
          <p:nvPr/>
        </p:nvSpPr>
        <p:spPr>
          <a:xfrm>
            <a:off x="6153912" y="2331720"/>
            <a:ext cx="5074920" cy="1325880"/>
          </a:xfrm>
          <a:prstGeom prst="roundRect">
            <a:avLst>
              <a:gd name="adj" fmla="val 8000"/>
            </a:avLst>
          </a:prstGeom>
          <a:solidFill>
            <a:srgbClr val="173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18504" y="2423160"/>
            <a:ext cx="4745736" cy="228600"/>
          </a:xfrm>
          <a:prstGeom prst="rect">
            <a:avLst/>
          </a:prstGeom>
          <a:noFill/>
        </p:spPr>
        <p:txBody>
          <a:bodyPr wrap="square" lIns="36576" rIns="36576" tIns="36576" bIns="36576" anchor="t">
            <a:spAutoFit/>
          </a:bodyPr>
          <a:lstStyle/>
          <a:p>
            <a:pPr algn="l">
              <a:spcAft>
                <a:spcPts val="500"/>
              </a:spcAft>
            </a:pPr>
            <a:r>
              <a:rPr sz="900" b="1" i="0">
                <a:solidFill>
                  <a:srgbClr val="D7ED76"/>
                </a:solidFill>
                <a:latin typeface="Aptos"/>
              </a:rPr>
              <a:t>SHARED LINK CONSTRAINT</a:t>
            </a:r>
          </a:p>
        </p:txBody>
      </p:sp>
      <p:sp>
        <p:nvSpPr>
          <p:cNvPr id="17" name="TextBox 16"/>
          <p:cNvSpPr txBox="1"/>
          <p:nvPr/>
        </p:nvSpPr>
        <p:spPr>
          <a:xfrm>
            <a:off x="6318504" y="2715768"/>
            <a:ext cx="4745736" cy="868680"/>
          </a:xfrm>
          <a:prstGeom prst="rect">
            <a:avLst/>
          </a:prstGeom>
          <a:noFill/>
        </p:spPr>
        <p:txBody>
          <a:bodyPr wrap="square" lIns="36576" rIns="36576" tIns="36576" bIns="36576" anchor="ctr">
            <a:spAutoFit/>
          </a:bodyPr>
          <a:lstStyle/>
          <a:p>
            <a:pPr algn="l">
              <a:spcAft>
                <a:spcPts val="500"/>
              </a:spcAft>
            </a:pPr>
            <a:r>
              <a:rPr sz="2300" b="1" i="0">
                <a:solidFill>
                  <a:srgbClr val="FFFFFF"/>
                </a:solidFill>
                <a:latin typeface="Aptos"/>
              </a:rPr>
              <a:t>Σᵢ xᵢ ≤ B</a:t>
            </a:r>
          </a:p>
        </p:txBody>
      </p:sp>
      <p:sp>
        <p:nvSpPr>
          <p:cNvPr id="18" name="Rounded Rectangle 17"/>
          <p:cNvSpPr/>
          <p:nvPr/>
        </p:nvSpPr>
        <p:spPr>
          <a:xfrm>
            <a:off x="749808" y="3950208"/>
            <a:ext cx="5074920" cy="1325880"/>
          </a:xfrm>
          <a:prstGeom prst="roundRect">
            <a:avLst>
              <a:gd name="adj" fmla="val 8000"/>
            </a:avLst>
          </a:prstGeom>
          <a:solidFill>
            <a:srgbClr val="173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041648"/>
            <a:ext cx="4745736" cy="228600"/>
          </a:xfrm>
          <a:prstGeom prst="rect">
            <a:avLst/>
          </a:prstGeom>
          <a:noFill/>
        </p:spPr>
        <p:txBody>
          <a:bodyPr wrap="square" lIns="36576" rIns="36576" tIns="36576" bIns="36576" anchor="t">
            <a:spAutoFit/>
          </a:bodyPr>
          <a:lstStyle/>
          <a:p>
            <a:pPr algn="l">
              <a:spcAft>
                <a:spcPts val="500"/>
              </a:spcAft>
            </a:pPr>
            <a:r>
              <a:rPr sz="900" b="1" i="0">
                <a:solidFill>
                  <a:srgbClr val="D7ED76"/>
                </a:solidFill>
                <a:latin typeface="Aptos"/>
              </a:rPr>
              <a:t>PER-CLASS MINIMUM</a:t>
            </a:r>
          </a:p>
        </p:txBody>
      </p:sp>
      <p:sp>
        <p:nvSpPr>
          <p:cNvPr id="20" name="TextBox 19"/>
          <p:cNvSpPr txBox="1"/>
          <p:nvPr/>
        </p:nvSpPr>
        <p:spPr>
          <a:xfrm>
            <a:off x="914400" y="4334256"/>
            <a:ext cx="4745736" cy="868680"/>
          </a:xfrm>
          <a:prstGeom prst="rect">
            <a:avLst/>
          </a:prstGeom>
          <a:noFill/>
        </p:spPr>
        <p:txBody>
          <a:bodyPr wrap="square" lIns="36576" rIns="36576" tIns="36576" bIns="36576" anchor="ctr">
            <a:spAutoFit/>
          </a:bodyPr>
          <a:lstStyle/>
          <a:p>
            <a:pPr algn="l">
              <a:spcAft>
                <a:spcPts val="500"/>
              </a:spcAft>
            </a:pPr>
            <a:r>
              <a:rPr sz="2300" b="1" i="0">
                <a:solidFill>
                  <a:srgbClr val="FFFFFF"/>
                </a:solidFill>
                <a:latin typeface="Aptos"/>
              </a:rPr>
              <a:t>xᵢ ≥ mᵢ</a:t>
            </a:r>
          </a:p>
        </p:txBody>
      </p:sp>
      <p:sp>
        <p:nvSpPr>
          <p:cNvPr id="21" name="Rounded Rectangle 20"/>
          <p:cNvSpPr/>
          <p:nvPr/>
        </p:nvSpPr>
        <p:spPr>
          <a:xfrm>
            <a:off x="6153912" y="3950208"/>
            <a:ext cx="5074920" cy="1325880"/>
          </a:xfrm>
          <a:prstGeom prst="roundRect">
            <a:avLst>
              <a:gd name="adj" fmla="val 8000"/>
            </a:avLst>
          </a:prstGeom>
          <a:solidFill>
            <a:srgbClr val="173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18504" y="4041648"/>
            <a:ext cx="4745736" cy="228600"/>
          </a:xfrm>
          <a:prstGeom prst="rect">
            <a:avLst/>
          </a:prstGeom>
          <a:noFill/>
        </p:spPr>
        <p:txBody>
          <a:bodyPr wrap="square" lIns="36576" rIns="36576" tIns="36576" bIns="36576" anchor="t">
            <a:spAutoFit/>
          </a:bodyPr>
          <a:lstStyle/>
          <a:p>
            <a:pPr algn="l">
              <a:spcAft>
                <a:spcPts val="500"/>
              </a:spcAft>
            </a:pPr>
            <a:r>
              <a:rPr sz="900" b="1" i="0">
                <a:solidFill>
                  <a:srgbClr val="D7ED76"/>
                </a:solidFill>
                <a:latin typeface="Aptos"/>
              </a:rPr>
              <a:t>PER-CLASS MAXIMUM</a:t>
            </a:r>
          </a:p>
        </p:txBody>
      </p:sp>
      <p:sp>
        <p:nvSpPr>
          <p:cNvPr id="23" name="TextBox 22"/>
          <p:cNvSpPr txBox="1"/>
          <p:nvPr/>
        </p:nvSpPr>
        <p:spPr>
          <a:xfrm>
            <a:off x="6318504" y="4334256"/>
            <a:ext cx="4745736" cy="868680"/>
          </a:xfrm>
          <a:prstGeom prst="rect">
            <a:avLst/>
          </a:prstGeom>
          <a:noFill/>
        </p:spPr>
        <p:txBody>
          <a:bodyPr wrap="square" lIns="36576" rIns="36576" tIns="36576" bIns="36576" anchor="ctr">
            <a:spAutoFit/>
          </a:bodyPr>
          <a:lstStyle/>
          <a:p>
            <a:pPr algn="l">
              <a:spcAft>
                <a:spcPts val="500"/>
              </a:spcAft>
            </a:pPr>
            <a:r>
              <a:rPr sz="2300" b="1" i="0">
                <a:solidFill>
                  <a:srgbClr val="FFFFFF"/>
                </a:solidFill>
                <a:latin typeface="Aptos"/>
              </a:rPr>
              <a:t>xᵢ ≤ Mᵢ</a:t>
            </a:r>
          </a:p>
        </p:txBody>
      </p:sp>
      <p:sp>
        <p:nvSpPr>
          <p:cNvPr id="24" name="TextBox 23"/>
          <p:cNvSpPr txBox="1"/>
          <p:nvPr/>
        </p:nvSpPr>
        <p:spPr>
          <a:xfrm>
            <a:off x="768096" y="5577840"/>
            <a:ext cx="10058400" cy="365760"/>
          </a:xfrm>
          <a:prstGeom prst="rect">
            <a:avLst/>
          </a:prstGeom>
          <a:noFill/>
        </p:spPr>
        <p:txBody>
          <a:bodyPr wrap="square" lIns="36576" rIns="36576" tIns="36576" bIns="36576" anchor="t">
            <a:spAutoFit/>
          </a:bodyPr>
          <a:lstStyle/>
          <a:p>
            <a:pPr algn="l">
              <a:spcAft>
                <a:spcPts val="500"/>
              </a:spcAft>
            </a:pPr>
            <a:r>
              <a:rPr sz="1200" b="1" i="0">
                <a:solidFill>
                  <a:srgbClr val="087E78"/>
                </a:solidFill>
                <a:latin typeface="Aptos"/>
              </a:rPr>
              <a:t>B = current measured link capacity  ·  CVXOPT solves the LP  ·  KKT verifier checks the solution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6F1"/>
        </a:solidFill>
        <a:effectLst/>
      </p:bgPr>
    </p:bg>
    <p:spTree>
      <p:nvGrpSpPr>
        <p:cNvPr id="1" name=""/>
        <p:cNvGrpSpPr/>
        <p:nvPr/>
      </p:nvGrpSpPr>
      <p:grpSpPr/>
      <p:sp>
        <p:nvSpPr>
          <p:cNvPr id="2" name="Rounded Rectangle 1"/>
          <p:cNvSpPr/>
          <p:nvPr/>
        </p:nvSpPr>
        <p:spPr>
          <a:xfrm>
            <a:off x="502920" y="310896"/>
            <a:ext cx="310896" cy="310896"/>
          </a:xfrm>
          <a:prstGeom prst="roundRect">
            <a:avLst>
              <a:gd name="adj" fmla="val 8000"/>
            </a:avLst>
          </a:prstGeom>
          <a:solidFill>
            <a:srgbClr val="D7ED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315468"/>
            <a:ext cx="256032" cy="265176"/>
          </a:xfrm>
          <a:prstGeom prst="rect">
            <a:avLst/>
          </a:prstGeom>
          <a:noFill/>
        </p:spPr>
        <p:txBody>
          <a:bodyPr wrap="square" lIns="0" rIns="0" tIns="0" bIns="0" anchor="ctr">
            <a:spAutoFit/>
          </a:bodyPr>
          <a:lstStyle/>
          <a:p>
            <a:pPr algn="ctr">
              <a:spcAft>
                <a:spcPts val="500"/>
              </a:spcAft>
            </a:pPr>
            <a:r>
              <a:rPr sz="1500" b="1" i="0">
                <a:solidFill>
                  <a:srgbClr val="17343A"/>
                </a:solidFill>
                <a:latin typeface="Aptos"/>
              </a:rPr>
              <a:t>N</a:t>
            </a:r>
          </a:p>
        </p:txBody>
      </p:sp>
      <p:sp>
        <p:nvSpPr>
          <p:cNvPr id="4" name="TextBox 3"/>
          <p:cNvSpPr txBox="1"/>
          <p:nvPr/>
        </p:nvSpPr>
        <p:spPr>
          <a:xfrm>
            <a:off x="905256" y="310896"/>
            <a:ext cx="2103120" cy="274320"/>
          </a:xfrm>
          <a:prstGeom prst="rect">
            <a:avLst/>
          </a:prstGeom>
          <a:noFill/>
        </p:spPr>
        <p:txBody>
          <a:bodyPr wrap="square" lIns="36576" rIns="36576" tIns="36576" bIns="36576" anchor="ctr">
            <a:spAutoFit/>
          </a:bodyPr>
          <a:lstStyle/>
          <a:p>
            <a:pPr algn="l">
              <a:spcAft>
                <a:spcPts val="500"/>
              </a:spcAft>
            </a:pPr>
            <a:r>
              <a:rPr sz="1000" b="1" i="0">
                <a:solidFill>
                  <a:srgbClr val="087E78"/>
                </a:solidFill>
                <a:latin typeface="Aptos"/>
              </a:rPr>
              <a:t>NETINSIGHT-X</a:t>
            </a:r>
          </a:p>
        </p:txBody>
      </p:sp>
      <p:sp>
        <p:nvSpPr>
          <p:cNvPr id="5" name="TextBox 4"/>
          <p:cNvSpPr txBox="1"/>
          <p:nvPr/>
        </p:nvSpPr>
        <p:spPr>
          <a:xfrm>
            <a:off x="8321040" y="310896"/>
            <a:ext cx="3337560" cy="274320"/>
          </a:xfrm>
          <a:prstGeom prst="rect">
            <a:avLst/>
          </a:prstGeom>
          <a:noFill/>
        </p:spPr>
        <p:txBody>
          <a:bodyPr wrap="square" lIns="36576" rIns="36576" tIns="36576" bIns="36576" anchor="ctr">
            <a:spAutoFit/>
          </a:bodyPr>
          <a:lstStyle/>
          <a:p>
            <a:pPr algn="r">
              <a:spcAft>
                <a:spcPts val="500"/>
              </a:spcAft>
            </a:pPr>
            <a:r>
              <a:rPr sz="900" b="1" i="0">
                <a:solidFill>
                  <a:srgbClr val="526A70"/>
                </a:solidFill>
                <a:latin typeface="Aptos"/>
              </a:rPr>
              <a:t>OPTIMIZATION  ·  06</a:t>
            </a:r>
          </a:p>
        </p:txBody>
      </p:sp>
      <p:sp>
        <p:nvSpPr>
          <p:cNvPr id="6" name="TextBox 5"/>
          <p:cNvSpPr txBox="1"/>
          <p:nvPr/>
        </p:nvSpPr>
        <p:spPr>
          <a:xfrm>
            <a:off x="594360" y="786384"/>
            <a:ext cx="10972800" cy="521207"/>
          </a:xfrm>
          <a:prstGeom prst="rect">
            <a:avLst/>
          </a:prstGeom>
          <a:noFill/>
        </p:spPr>
        <p:txBody>
          <a:bodyPr wrap="square" lIns="36576" rIns="36576" tIns="36576" bIns="36576" anchor="ctr">
            <a:spAutoFit/>
          </a:bodyPr>
          <a:lstStyle/>
          <a:p>
            <a:pPr algn="l">
              <a:spcAft>
                <a:spcPts val="500"/>
              </a:spcAft>
            </a:pPr>
            <a:r>
              <a:rPr sz="2800" b="1" i="0">
                <a:solidFill>
                  <a:srgbClr val="17343A"/>
                </a:solidFill>
                <a:latin typeface="Aptos"/>
              </a:rPr>
              <a:t>The Four QoS Classes and Their Configured Priorities</a:t>
            </a:r>
          </a:p>
        </p:txBody>
      </p:sp>
      <p:sp>
        <p:nvSpPr>
          <p:cNvPr id="7" name="Rectangle 6"/>
          <p:cNvSpPr/>
          <p:nvPr/>
        </p:nvSpPr>
        <p:spPr>
          <a:xfrm>
            <a:off x="612648" y="1399032"/>
            <a:ext cx="685800" cy="41148"/>
          </a:xfrm>
          <a:prstGeom prst="rect">
            <a:avLst/>
          </a:prstGeom>
          <a:solidFill>
            <a:srgbClr val="E66D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6519672"/>
            <a:ext cx="10991088" cy="10972"/>
          </a:xfrm>
          <a:prstGeom prst="rect">
            <a:avLst/>
          </a:prstGeom>
          <a:solidFill>
            <a:srgbClr val="D5E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6565392"/>
            <a:ext cx="5943600" cy="164592"/>
          </a:xfrm>
          <a:prstGeom prst="rect">
            <a:avLst/>
          </a:prstGeom>
          <a:noFill/>
        </p:spPr>
        <p:txBody>
          <a:bodyPr wrap="square" lIns="36576" rIns="36576" tIns="36576" bIns="36576" anchor="ctr">
            <a:spAutoFit/>
          </a:bodyPr>
          <a:lstStyle/>
          <a:p>
            <a:pPr algn="l">
              <a:spcAft>
                <a:spcPts val="500"/>
              </a:spcAft>
            </a:pPr>
            <a:r>
              <a:rPr sz="800" b="1" i="0">
                <a:solidFill>
                  <a:srgbClr val="526A70"/>
                </a:solidFill>
                <a:latin typeface="Aptos"/>
              </a:rPr>
              <a:t>NETINSIGHT-X  |  PROJECT REVIEW</a:t>
            </a:r>
          </a:p>
        </p:txBody>
      </p:sp>
      <p:sp>
        <p:nvSpPr>
          <p:cNvPr id="10" name="TextBox 9"/>
          <p:cNvSpPr txBox="1"/>
          <p:nvPr/>
        </p:nvSpPr>
        <p:spPr>
          <a:xfrm>
            <a:off x="10972800" y="6547104"/>
            <a:ext cx="594360" cy="182880"/>
          </a:xfrm>
          <a:prstGeom prst="rect">
            <a:avLst/>
          </a:prstGeom>
          <a:noFill/>
        </p:spPr>
        <p:txBody>
          <a:bodyPr wrap="square" lIns="36576" rIns="36576" tIns="36576" bIns="36576" anchor="ctr">
            <a:spAutoFit/>
          </a:bodyPr>
          <a:lstStyle/>
          <a:p>
            <a:pPr algn="r">
              <a:spcAft>
                <a:spcPts val="500"/>
              </a:spcAft>
            </a:pPr>
            <a:r>
              <a:rPr sz="900" b="1" i="0">
                <a:solidFill>
                  <a:srgbClr val="526A70"/>
                </a:solidFill>
                <a:latin typeface="Aptos"/>
              </a:rPr>
              <a:t>06</a:t>
            </a:r>
          </a:p>
        </p:txBody>
      </p:sp>
      <p:sp>
        <p:nvSpPr>
          <p:cNvPr id="11" name="Rounded Rectangle 10"/>
          <p:cNvSpPr/>
          <p:nvPr/>
        </p:nvSpPr>
        <p:spPr>
          <a:xfrm>
            <a:off x="841248" y="1783080"/>
            <a:ext cx="10469880" cy="777240"/>
          </a:xfrm>
          <a:prstGeom prst="roundRect">
            <a:avLst>
              <a:gd name="adj" fmla="val 8000"/>
            </a:avLst>
          </a:prstGeom>
          <a:solidFill>
            <a:srgbClr val="FFFFFF"/>
          </a:solidFill>
          <a:ln>
            <a:solidFill>
              <a:srgbClr val="D5E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41248" y="1783080"/>
            <a:ext cx="109728" cy="777240"/>
          </a:xfrm>
          <a:prstGeom prst="roundRect">
            <a:avLst>
              <a:gd name="adj" fmla="val 8000"/>
            </a:avLst>
          </a:prstGeom>
          <a:solidFill>
            <a:srgbClr val="087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24712" y="1883664"/>
            <a:ext cx="3794760" cy="256032"/>
          </a:xfrm>
          <a:prstGeom prst="rect">
            <a:avLst/>
          </a:prstGeom>
          <a:noFill/>
        </p:spPr>
        <p:txBody>
          <a:bodyPr wrap="square" lIns="36576" rIns="36576" tIns="36576" bIns="36576" anchor="ctr">
            <a:spAutoFit/>
          </a:bodyPr>
          <a:lstStyle/>
          <a:p>
            <a:pPr algn="l">
              <a:spcAft>
                <a:spcPts val="500"/>
              </a:spcAft>
            </a:pPr>
            <a:r>
              <a:rPr sz="1400" b="1" i="0">
                <a:solidFill>
                  <a:srgbClr val="17343A"/>
                </a:solidFill>
                <a:latin typeface="Aptos"/>
              </a:rPr>
              <a:t>WEB BROWSING</a:t>
            </a:r>
          </a:p>
        </p:txBody>
      </p:sp>
      <p:sp>
        <p:nvSpPr>
          <p:cNvPr id="14" name="TextBox 13"/>
          <p:cNvSpPr txBox="1"/>
          <p:nvPr/>
        </p:nvSpPr>
        <p:spPr>
          <a:xfrm>
            <a:off x="5486400" y="1874519"/>
            <a:ext cx="1600200" cy="292608"/>
          </a:xfrm>
          <a:prstGeom prst="rect">
            <a:avLst/>
          </a:prstGeom>
          <a:noFill/>
        </p:spPr>
        <p:txBody>
          <a:bodyPr wrap="square" lIns="36576" rIns="36576" tIns="36576" bIns="36576" anchor="ctr">
            <a:spAutoFit/>
          </a:bodyPr>
          <a:lstStyle/>
          <a:p>
            <a:pPr algn="ctr">
              <a:spcAft>
                <a:spcPts val="500"/>
              </a:spcAft>
            </a:pPr>
            <a:r>
              <a:rPr sz="1500" b="1" i="0">
                <a:solidFill>
                  <a:srgbClr val="087E78"/>
                </a:solidFill>
                <a:latin typeface="Aptos"/>
              </a:rPr>
              <a:t>w = 1.0</a:t>
            </a:r>
          </a:p>
        </p:txBody>
      </p:sp>
      <p:sp>
        <p:nvSpPr>
          <p:cNvPr id="15" name="TextBox 14"/>
          <p:cNvSpPr txBox="1"/>
          <p:nvPr/>
        </p:nvSpPr>
        <p:spPr>
          <a:xfrm>
            <a:off x="7315200" y="1892807"/>
            <a:ext cx="3566160" cy="274320"/>
          </a:xfrm>
          <a:prstGeom prst="rect">
            <a:avLst/>
          </a:prstGeom>
          <a:noFill/>
        </p:spPr>
        <p:txBody>
          <a:bodyPr wrap="square" lIns="36576" rIns="36576" tIns="36576" bIns="36576" anchor="ctr">
            <a:spAutoFit/>
          </a:bodyPr>
          <a:lstStyle/>
          <a:p>
            <a:pPr algn="r">
              <a:spcAft>
                <a:spcPts val="500"/>
              </a:spcAft>
            </a:pPr>
            <a:r>
              <a:rPr sz="1300" b="1" i="0">
                <a:solidFill>
                  <a:srgbClr val="526A70"/>
                </a:solidFill>
                <a:latin typeface="Aptos"/>
              </a:rPr>
              <a:t>min 5 · max 40 Mbps</a:t>
            </a:r>
          </a:p>
        </p:txBody>
      </p:sp>
      <p:sp>
        <p:nvSpPr>
          <p:cNvPr id="16" name="Rounded Rectangle 15"/>
          <p:cNvSpPr/>
          <p:nvPr/>
        </p:nvSpPr>
        <p:spPr>
          <a:xfrm>
            <a:off x="841248" y="2816352"/>
            <a:ext cx="10469880" cy="777240"/>
          </a:xfrm>
          <a:prstGeom prst="roundRect">
            <a:avLst>
              <a:gd name="adj" fmla="val 8000"/>
            </a:avLst>
          </a:prstGeom>
          <a:solidFill>
            <a:srgbClr val="FFFFFF"/>
          </a:solidFill>
          <a:ln>
            <a:solidFill>
              <a:srgbClr val="D5E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41248" y="2816352"/>
            <a:ext cx="109728" cy="777240"/>
          </a:xfrm>
          <a:prstGeom prst="roundRect">
            <a:avLst>
              <a:gd name="adj" fmla="val 8000"/>
            </a:avLst>
          </a:prstGeom>
          <a:solidFill>
            <a:srgbClr val="E66D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24712" y="2916936"/>
            <a:ext cx="3794760" cy="256032"/>
          </a:xfrm>
          <a:prstGeom prst="rect">
            <a:avLst/>
          </a:prstGeom>
          <a:noFill/>
        </p:spPr>
        <p:txBody>
          <a:bodyPr wrap="square" lIns="36576" rIns="36576" tIns="36576" bIns="36576" anchor="ctr">
            <a:spAutoFit/>
          </a:bodyPr>
          <a:lstStyle/>
          <a:p>
            <a:pPr algn="l">
              <a:spcAft>
                <a:spcPts val="500"/>
              </a:spcAft>
            </a:pPr>
            <a:r>
              <a:rPr sz="1400" b="1" i="0">
                <a:solidFill>
                  <a:srgbClr val="17343A"/>
                </a:solidFill>
                <a:latin typeface="Aptos"/>
              </a:rPr>
              <a:t>STREAMING</a:t>
            </a:r>
          </a:p>
        </p:txBody>
      </p:sp>
      <p:sp>
        <p:nvSpPr>
          <p:cNvPr id="19" name="TextBox 18"/>
          <p:cNvSpPr txBox="1"/>
          <p:nvPr/>
        </p:nvSpPr>
        <p:spPr>
          <a:xfrm>
            <a:off x="5486400" y="2907792"/>
            <a:ext cx="1600200" cy="292608"/>
          </a:xfrm>
          <a:prstGeom prst="rect">
            <a:avLst/>
          </a:prstGeom>
          <a:noFill/>
        </p:spPr>
        <p:txBody>
          <a:bodyPr wrap="square" lIns="36576" rIns="36576" tIns="36576" bIns="36576" anchor="ctr">
            <a:spAutoFit/>
          </a:bodyPr>
          <a:lstStyle/>
          <a:p>
            <a:pPr algn="ctr">
              <a:spcAft>
                <a:spcPts val="500"/>
              </a:spcAft>
            </a:pPr>
            <a:r>
              <a:rPr sz="1500" b="1" i="0">
                <a:solidFill>
                  <a:srgbClr val="E66D53"/>
                </a:solidFill>
                <a:latin typeface="Aptos"/>
              </a:rPr>
              <a:t>w = 2.0</a:t>
            </a:r>
          </a:p>
        </p:txBody>
      </p:sp>
      <p:sp>
        <p:nvSpPr>
          <p:cNvPr id="20" name="TextBox 19"/>
          <p:cNvSpPr txBox="1"/>
          <p:nvPr/>
        </p:nvSpPr>
        <p:spPr>
          <a:xfrm>
            <a:off x="7315200" y="2926080"/>
            <a:ext cx="3566160" cy="274320"/>
          </a:xfrm>
          <a:prstGeom prst="rect">
            <a:avLst/>
          </a:prstGeom>
          <a:noFill/>
        </p:spPr>
        <p:txBody>
          <a:bodyPr wrap="square" lIns="36576" rIns="36576" tIns="36576" bIns="36576" anchor="ctr">
            <a:spAutoFit/>
          </a:bodyPr>
          <a:lstStyle/>
          <a:p>
            <a:pPr algn="r">
              <a:spcAft>
                <a:spcPts val="500"/>
              </a:spcAft>
            </a:pPr>
            <a:r>
              <a:rPr sz="1300" b="1" i="0">
                <a:solidFill>
                  <a:srgbClr val="526A70"/>
                </a:solidFill>
                <a:latin typeface="Aptos"/>
              </a:rPr>
              <a:t>min 15 · max 60 Mbps</a:t>
            </a:r>
          </a:p>
        </p:txBody>
      </p:sp>
      <p:sp>
        <p:nvSpPr>
          <p:cNvPr id="21" name="Rounded Rectangle 20"/>
          <p:cNvSpPr/>
          <p:nvPr/>
        </p:nvSpPr>
        <p:spPr>
          <a:xfrm>
            <a:off x="841248" y="3849624"/>
            <a:ext cx="10469880" cy="777240"/>
          </a:xfrm>
          <a:prstGeom prst="roundRect">
            <a:avLst>
              <a:gd name="adj" fmla="val 8000"/>
            </a:avLst>
          </a:prstGeom>
          <a:solidFill>
            <a:srgbClr val="FFFFFF"/>
          </a:solidFill>
          <a:ln>
            <a:solidFill>
              <a:srgbClr val="D5E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41248" y="3849624"/>
            <a:ext cx="109728" cy="777240"/>
          </a:xfrm>
          <a:prstGeom prst="roundRect">
            <a:avLst>
              <a:gd name="adj" fmla="val 8000"/>
            </a:avLst>
          </a:prstGeom>
          <a:solidFill>
            <a:srgbClr val="173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24712" y="3950208"/>
            <a:ext cx="3794760" cy="256032"/>
          </a:xfrm>
          <a:prstGeom prst="rect">
            <a:avLst/>
          </a:prstGeom>
          <a:noFill/>
        </p:spPr>
        <p:txBody>
          <a:bodyPr wrap="square" lIns="36576" rIns="36576" tIns="36576" bIns="36576" anchor="ctr">
            <a:spAutoFit/>
          </a:bodyPr>
          <a:lstStyle/>
          <a:p>
            <a:pPr algn="l">
              <a:spcAft>
                <a:spcPts val="500"/>
              </a:spcAft>
            </a:pPr>
            <a:r>
              <a:rPr sz="1400" b="1" i="0">
                <a:solidFill>
                  <a:srgbClr val="17343A"/>
                </a:solidFill>
                <a:latin typeface="Aptos"/>
              </a:rPr>
              <a:t>FILE TRANSFER</a:t>
            </a:r>
          </a:p>
        </p:txBody>
      </p:sp>
      <p:sp>
        <p:nvSpPr>
          <p:cNvPr id="24" name="TextBox 23"/>
          <p:cNvSpPr txBox="1"/>
          <p:nvPr/>
        </p:nvSpPr>
        <p:spPr>
          <a:xfrm>
            <a:off x="5486400" y="3941063"/>
            <a:ext cx="1600200" cy="292608"/>
          </a:xfrm>
          <a:prstGeom prst="rect">
            <a:avLst/>
          </a:prstGeom>
          <a:noFill/>
        </p:spPr>
        <p:txBody>
          <a:bodyPr wrap="square" lIns="36576" rIns="36576" tIns="36576" bIns="36576" anchor="ctr">
            <a:spAutoFit/>
          </a:bodyPr>
          <a:lstStyle/>
          <a:p>
            <a:pPr algn="ctr">
              <a:spcAft>
                <a:spcPts val="500"/>
              </a:spcAft>
            </a:pPr>
            <a:r>
              <a:rPr sz="1500" b="1" i="0">
                <a:solidFill>
                  <a:srgbClr val="17343A"/>
                </a:solidFill>
                <a:latin typeface="Aptos"/>
              </a:rPr>
              <a:t>w = 0.5</a:t>
            </a:r>
          </a:p>
        </p:txBody>
      </p:sp>
      <p:sp>
        <p:nvSpPr>
          <p:cNvPr id="25" name="TextBox 24"/>
          <p:cNvSpPr txBox="1"/>
          <p:nvPr/>
        </p:nvSpPr>
        <p:spPr>
          <a:xfrm>
            <a:off x="7315200" y="3959352"/>
            <a:ext cx="3566160" cy="274320"/>
          </a:xfrm>
          <a:prstGeom prst="rect">
            <a:avLst/>
          </a:prstGeom>
          <a:noFill/>
        </p:spPr>
        <p:txBody>
          <a:bodyPr wrap="square" lIns="36576" rIns="36576" tIns="36576" bIns="36576" anchor="ctr">
            <a:spAutoFit/>
          </a:bodyPr>
          <a:lstStyle/>
          <a:p>
            <a:pPr algn="r">
              <a:spcAft>
                <a:spcPts val="500"/>
              </a:spcAft>
            </a:pPr>
            <a:r>
              <a:rPr sz="1300" b="1" i="0">
                <a:solidFill>
                  <a:srgbClr val="526A70"/>
                </a:solidFill>
                <a:latin typeface="Aptos"/>
              </a:rPr>
              <a:t>min 2 · max 30 Mbps</a:t>
            </a:r>
          </a:p>
        </p:txBody>
      </p:sp>
      <p:sp>
        <p:nvSpPr>
          <p:cNvPr id="26" name="Rounded Rectangle 25"/>
          <p:cNvSpPr/>
          <p:nvPr/>
        </p:nvSpPr>
        <p:spPr>
          <a:xfrm>
            <a:off x="841248" y="4882896"/>
            <a:ext cx="10469880" cy="777240"/>
          </a:xfrm>
          <a:prstGeom prst="roundRect">
            <a:avLst>
              <a:gd name="adj" fmla="val 8000"/>
            </a:avLst>
          </a:prstGeom>
          <a:solidFill>
            <a:srgbClr val="FFFFFF"/>
          </a:solidFill>
          <a:ln>
            <a:solidFill>
              <a:srgbClr val="D5E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41248" y="4882896"/>
            <a:ext cx="109728" cy="777240"/>
          </a:xfrm>
          <a:prstGeom prst="roundRect">
            <a:avLst>
              <a:gd name="adj" fmla="val 8000"/>
            </a:avLst>
          </a:prstGeom>
          <a:solidFill>
            <a:srgbClr val="087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24712" y="4983480"/>
            <a:ext cx="3794760" cy="256032"/>
          </a:xfrm>
          <a:prstGeom prst="rect">
            <a:avLst/>
          </a:prstGeom>
          <a:noFill/>
        </p:spPr>
        <p:txBody>
          <a:bodyPr wrap="square" lIns="36576" rIns="36576" tIns="36576" bIns="36576" anchor="ctr">
            <a:spAutoFit/>
          </a:bodyPr>
          <a:lstStyle/>
          <a:p>
            <a:pPr algn="l">
              <a:spcAft>
                <a:spcPts val="500"/>
              </a:spcAft>
            </a:pPr>
            <a:r>
              <a:rPr sz="1400" b="1" i="0">
                <a:solidFill>
                  <a:srgbClr val="17343A"/>
                </a:solidFill>
                <a:latin typeface="Aptos"/>
              </a:rPr>
              <a:t>CRITICAL SERVICES</a:t>
            </a:r>
          </a:p>
        </p:txBody>
      </p:sp>
      <p:sp>
        <p:nvSpPr>
          <p:cNvPr id="29" name="TextBox 28"/>
          <p:cNvSpPr txBox="1"/>
          <p:nvPr/>
        </p:nvSpPr>
        <p:spPr>
          <a:xfrm>
            <a:off x="5486400" y="4974336"/>
            <a:ext cx="1600200" cy="292608"/>
          </a:xfrm>
          <a:prstGeom prst="rect">
            <a:avLst/>
          </a:prstGeom>
          <a:noFill/>
        </p:spPr>
        <p:txBody>
          <a:bodyPr wrap="square" lIns="36576" rIns="36576" tIns="36576" bIns="36576" anchor="ctr">
            <a:spAutoFit/>
          </a:bodyPr>
          <a:lstStyle/>
          <a:p>
            <a:pPr algn="ctr">
              <a:spcAft>
                <a:spcPts val="500"/>
              </a:spcAft>
            </a:pPr>
            <a:r>
              <a:rPr sz="1500" b="1" i="0">
                <a:solidFill>
                  <a:srgbClr val="087E78"/>
                </a:solidFill>
                <a:latin typeface="Aptos"/>
              </a:rPr>
              <a:t>w = 3.0</a:t>
            </a:r>
          </a:p>
        </p:txBody>
      </p:sp>
      <p:sp>
        <p:nvSpPr>
          <p:cNvPr id="30" name="TextBox 29"/>
          <p:cNvSpPr txBox="1"/>
          <p:nvPr/>
        </p:nvSpPr>
        <p:spPr>
          <a:xfrm>
            <a:off x="7315200" y="4992624"/>
            <a:ext cx="3566160" cy="274320"/>
          </a:xfrm>
          <a:prstGeom prst="rect">
            <a:avLst/>
          </a:prstGeom>
          <a:noFill/>
        </p:spPr>
        <p:txBody>
          <a:bodyPr wrap="square" lIns="36576" rIns="36576" tIns="36576" bIns="36576" anchor="ctr">
            <a:spAutoFit/>
          </a:bodyPr>
          <a:lstStyle/>
          <a:p>
            <a:pPr algn="r">
              <a:spcAft>
                <a:spcPts val="500"/>
              </a:spcAft>
            </a:pPr>
            <a:r>
              <a:rPr sz="1300" b="1" i="0">
                <a:solidFill>
                  <a:srgbClr val="526A70"/>
                </a:solidFill>
                <a:latin typeface="Aptos"/>
              </a:rPr>
              <a:t>min 10 · max 50 Mbps</a:t>
            </a:r>
          </a:p>
        </p:txBody>
      </p:sp>
      <p:sp>
        <p:nvSpPr>
          <p:cNvPr id="31" name="Rounded Rectangle 30"/>
          <p:cNvSpPr/>
          <p:nvPr/>
        </p:nvSpPr>
        <p:spPr>
          <a:xfrm>
            <a:off x="868680" y="5989320"/>
            <a:ext cx="10424160" cy="347472"/>
          </a:xfrm>
          <a:prstGeom prst="roundRect">
            <a:avLst>
              <a:gd name="adj" fmla="val 8000"/>
            </a:avLst>
          </a:prstGeom>
          <a:solidFill>
            <a:srgbClr val="E5F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24128" y="6007608"/>
            <a:ext cx="10058400" cy="274320"/>
          </a:xfrm>
          <a:prstGeom prst="rect">
            <a:avLst/>
          </a:prstGeom>
          <a:noFill/>
        </p:spPr>
        <p:txBody>
          <a:bodyPr wrap="square" lIns="36576" rIns="36576" tIns="36576" bIns="36576" anchor="ctr">
            <a:spAutoFit/>
          </a:bodyPr>
          <a:lstStyle/>
          <a:p>
            <a:pPr algn="l">
              <a:spcAft>
                <a:spcPts val="500"/>
              </a:spcAft>
            </a:pPr>
            <a:r>
              <a:rPr sz="1000" b="1" i="0">
                <a:solidFill>
                  <a:srgbClr val="17343A"/>
                </a:solidFill>
                <a:latin typeface="Aptos"/>
              </a:rPr>
              <a:t>Defaults shown; administrator settings and measured capacity can change the effective inputs.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6F1"/>
        </a:solidFill>
        <a:effectLst/>
      </p:bgPr>
    </p:bg>
    <p:spTree>
      <p:nvGrpSpPr>
        <p:cNvPr id="1" name=""/>
        <p:cNvGrpSpPr/>
        <p:nvPr/>
      </p:nvGrpSpPr>
      <p:grpSpPr/>
      <p:sp>
        <p:nvSpPr>
          <p:cNvPr id="2" name="Rounded Rectangle 1"/>
          <p:cNvSpPr/>
          <p:nvPr/>
        </p:nvSpPr>
        <p:spPr>
          <a:xfrm>
            <a:off x="502920" y="310896"/>
            <a:ext cx="310896" cy="310896"/>
          </a:xfrm>
          <a:prstGeom prst="roundRect">
            <a:avLst>
              <a:gd name="adj" fmla="val 8000"/>
            </a:avLst>
          </a:prstGeom>
          <a:solidFill>
            <a:srgbClr val="D7ED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315468"/>
            <a:ext cx="256032" cy="265176"/>
          </a:xfrm>
          <a:prstGeom prst="rect">
            <a:avLst/>
          </a:prstGeom>
          <a:noFill/>
        </p:spPr>
        <p:txBody>
          <a:bodyPr wrap="square" lIns="0" rIns="0" tIns="0" bIns="0" anchor="ctr">
            <a:spAutoFit/>
          </a:bodyPr>
          <a:lstStyle/>
          <a:p>
            <a:pPr algn="ctr">
              <a:spcAft>
                <a:spcPts val="500"/>
              </a:spcAft>
            </a:pPr>
            <a:r>
              <a:rPr sz="1500" b="1" i="0">
                <a:solidFill>
                  <a:srgbClr val="17343A"/>
                </a:solidFill>
                <a:latin typeface="Aptos"/>
              </a:rPr>
              <a:t>N</a:t>
            </a:r>
          </a:p>
        </p:txBody>
      </p:sp>
      <p:sp>
        <p:nvSpPr>
          <p:cNvPr id="4" name="TextBox 3"/>
          <p:cNvSpPr txBox="1"/>
          <p:nvPr/>
        </p:nvSpPr>
        <p:spPr>
          <a:xfrm>
            <a:off x="905256" y="310896"/>
            <a:ext cx="2103120" cy="274320"/>
          </a:xfrm>
          <a:prstGeom prst="rect">
            <a:avLst/>
          </a:prstGeom>
          <a:noFill/>
        </p:spPr>
        <p:txBody>
          <a:bodyPr wrap="square" lIns="36576" rIns="36576" tIns="36576" bIns="36576" anchor="ctr">
            <a:spAutoFit/>
          </a:bodyPr>
          <a:lstStyle/>
          <a:p>
            <a:pPr algn="l">
              <a:spcAft>
                <a:spcPts val="500"/>
              </a:spcAft>
            </a:pPr>
            <a:r>
              <a:rPr sz="1000" b="1" i="0">
                <a:solidFill>
                  <a:srgbClr val="087E78"/>
                </a:solidFill>
                <a:latin typeface="Aptos"/>
              </a:rPr>
              <a:t>NETINSIGHT-X</a:t>
            </a:r>
          </a:p>
        </p:txBody>
      </p:sp>
      <p:sp>
        <p:nvSpPr>
          <p:cNvPr id="5" name="TextBox 4"/>
          <p:cNvSpPr txBox="1"/>
          <p:nvPr/>
        </p:nvSpPr>
        <p:spPr>
          <a:xfrm>
            <a:off x="8321040" y="310896"/>
            <a:ext cx="3337560" cy="274320"/>
          </a:xfrm>
          <a:prstGeom prst="rect">
            <a:avLst/>
          </a:prstGeom>
          <a:noFill/>
        </p:spPr>
        <p:txBody>
          <a:bodyPr wrap="square" lIns="36576" rIns="36576" tIns="36576" bIns="36576" anchor="ctr">
            <a:spAutoFit/>
          </a:bodyPr>
          <a:lstStyle/>
          <a:p>
            <a:pPr algn="r">
              <a:spcAft>
                <a:spcPts val="500"/>
              </a:spcAft>
            </a:pPr>
            <a:r>
              <a:rPr sz="900" b="1" i="0">
                <a:solidFill>
                  <a:srgbClr val="526A70"/>
                </a:solidFill>
                <a:latin typeface="Aptos"/>
              </a:rPr>
              <a:t>OPTIMIZATION EXAMPLE  ·  07</a:t>
            </a:r>
          </a:p>
        </p:txBody>
      </p:sp>
      <p:sp>
        <p:nvSpPr>
          <p:cNvPr id="6" name="TextBox 5"/>
          <p:cNvSpPr txBox="1"/>
          <p:nvPr/>
        </p:nvSpPr>
        <p:spPr>
          <a:xfrm>
            <a:off x="594360" y="786384"/>
            <a:ext cx="10972800" cy="521207"/>
          </a:xfrm>
          <a:prstGeom prst="rect">
            <a:avLst/>
          </a:prstGeom>
          <a:noFill/>
        </p:spPr>
        <p:txBody>
          <a:bodyPr wrap="square" lIns="36576" rIns="36576" tIns="36576" bIns="36576" anchor="ctr">
            <a:spAutoFit/>
          </a:bodyPr>
          <a:lstStyle/>
          <a:p>
            <a:pPr algn="l">
              <a:spcAft>
                <a:spcPts val="500"/>
              </a:spcAft>
            </a:pPr>
            <a:r>
              <a:rPr sz="2800" b="1" i="0">
                <a:solidFill>
                  <a:srgbClr val="17343A"/>
                </a:solidFill>
                <a:latin typeface="Aptos"/>
              </a:rPr>
              <a:t>Worked Example: A 100 Mbps Link</a:t>
            </a:r>
          </a:p>
        </p:txBody>
      </p:sp>
      <p:sp>
        <p:nvSpPr>
          <p:cNvPr id="7" name="Rectangle 6"/>
          <p:cNvSpPr/>
          <p:nvPr/>
        </p:nvSpPr>
        <p:spPr>
          <a:xfrm>
            <a:off x="612648" y="1399032"/>
            <a:ext cx="685800" cy="41148"/>
          </a:xfrm>
          <a:prstGeom prst="rect">
            <a:avLst/>
          </a:prstGeom>
          <a:solidFill>
            <a:srgbClr val="E66D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6519672"/>
            <a:ext cx="10991088" cy="10972"/>
          </a:xfrm>
          <a:prstGeom prst="rect">
            <a:avLst/>
          </a:prstGeom>
          <a:solidFill>
            <a:srgbClr val="D5E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6565392"/>
            <a:ext cx="5943600" cy="164592"/>
          </a:xfrm>
          <a:prstGeom prst="rect">
            <a:avLst/>
          </a:prstGeom>
          <a:noFill/>
        </p:spPr>
        <p:txBody>
          <a:bodyPr wrap="square" lIns="36576" rIns="36576" tIns="36576" bIns="36576" anchor="ctr">
            <a:spAutoFit/>
          </a:bodyPr>
          <a:lstStyle/>
          <a:p>
            <a:pPr algn="l">
              <a:spcAft>
                <a:spcPts val="500"/>
              </a:spcAft>
            </a:pPr>
            <a:r>
              <a:rPr sz="800" b="1" i="0">
                <a:solidFill>
                  <a:srgbClr val="526A70"/>
                </a:solidFill>
                <a:latin typeface="Aptos"/>
              </a:rPr>
              <a:t>NETINSIGHT-X  |  PROJECT REVIEW</a:t>
            </a:r>
          </a:p>
        </p:txBody>
      </p:sp>
      <p:sp>
        <p:nvSpPr>
          <p:cNvPr id="10" name="TextBox 9"/>
          <p:cNvSpPr txBox="1"/>
          <p:nvPr/>
        </p:nvSpPr>
        <p:spPr>
          <a:xfrm>
            <a:off x="10972800" y="6547104"/>
            <a:ext cx="594360" cy="182880"/>
          </a:xfrm>
          <a:prstGeom prst="rect">
            <a:avLst/>
          </a:prstGeom>
          <a:noFill/>
        </p:spPr>
        <p:txBody>
          <a:bodyPr wrap="square" lIns="36576" rIns="36576" tIns="36576" bIns="36576" anchor="ctr">
            <a:spAutoFit/>
          </a:bodyPr>
          <a:lstStyle/>
          <a:p>
            <a:pPr algn="r">
              <a:spcAft>
                <a:spcPts val="500"/>
              </a:spcAft>
            </a:pPr>
            <a:r>
              <a:rPr sz="900" b="1" i="0">
                <a:solidFill>
                  <a:srgbClr val="526A70"/>
                </a:solidFill>
                <a:latin typeface="Aptos"/>
              </a:rPr>
              <a:t>07</a:t>
            </a:r>
          </a:p>
        </p:txBody>
      </p:sp>
      <p:sp>
        <p:nvSpPr>
          <p:cNvPr id="11" name="TextBox 10"/>
          <p:cNvSpPr txBox="1"/>
          <p:nvPr/>
        </p:nvSpPr>
        <p:spPr>
          <a:xfrm>
            <a:off x="768096" y="1664208"/>
            <a:ext cx="10424160" cy="402336"/>
          </a:xfrm>
          <a:prstGeom prst="rect">
            <a:avLst/>
          </a:prstGeom>
          <a:noFill/>
        </p:spPr>
        <p:txBody>
          <a:bodyPr wrap="square" lIns="36576" rIns="36576" tIns="36576" bIns="36576" anchor="t">
            <a:spAutoFit/>
          </a:bodyPr>
          <a:lstStyle/>
          <a:p>
            <a:pPr algn="l">
              <a:spcAft>
                <a:spcPts val="500"/>
              </a:spcAft>
            </a:pPr>
            <a:r>
              <a:rPr sz="1500" b="0" i="0">
                <a:solidFill>
                  <a:srgbClr val="526A70"/>
                </a:solidFill>
                <a:latin typeface="Aptos"/>
              </a:rPr>
              <a:t>Illustrative LP result using the configured defaults and the objective shown earlier.</a:t>
            </a:r>
          </a:p>
        </p:txBody>
      </p:sp>
      <p:sp>
        <p:nvSpPr>
          <p:cNvPr id="12" name="TextBox 11"/>
          <p:cNvSpPr txBox="1"/>
          <p:nvPr/>
        </p:nvSpPr>
        <p:spPr>
          <a:xfrm>
            <a:off x="987552" y="2212848"/>
            <a:ext cx="2926080" cy="274320"/>
          </a:xfrm>
          <a:prstGeom prst="rect">
            <a:avLst/>
          </a:prstGeom>
          <a:noFill/>
        </p:spPr>
        <p:txBody>
          <a:bodyPr wrap="square" lIns="36576" rIns="36576" tIns="36576" bIns="36576" anchor="t">
            <a:spAutoFit/>
          </a:bodyPr>
          <a:lstStyle/>
          <a:p>
            <a:pPr algn="ctr">
              <a:spcAft>
                <a:spcPts val="500"/>
              </a:spcAft>
            </a:pPr>
            <a:r>
              <a:rPr sz="1000" b="1" i="0">
                <a:solidFill>
                  <a:srgbClr val="087E78"/>
                </a:solidFill>
                <a:latin typeface="Aptos"/>
              </a:rPr>
              <a:t>CLASS</a:t>
            </a:r>
          </a:p>
        </p:txBody>
      </p:sp>
      <p:sp>
        <p:nvSpPr>
          <p:cNvPr id="13" name="TextBox 12"/>
          <p:cNvSpPr txBox="1"/>
          <p:nvPr/>
        </p:nvSpPr>
        <p:spPr>
          <a:xfrm>
            <a:off x="4617720" y="2212848"/>
            <a:ext cx="1371600" cy="274320"/>
          </a:xfrm>
          <a:prstGeom prst="rect">
            <a:avLst/>
          </a:prstGeom>
          <a:noFill/>
        </p:spPr>
        <p:txBody>
          <a:bodyPr wrap="square" lIns="36576" rIns="36576" tIns="36576" bIns="36576" anchor="t">
            <a:spAutoFit/>
          </a:bodyPr>
          <a:lstStyle/>
          <a:p>
            <a:pPr algn="ctr">
              <a:spcAft>
                <a:spcPts val="500"/>
              </a:spcAft>
            </a:pPr>
            <a:r>
              <a:rPr sz="1000" b="1" i="0">
                <a:solidFill>
                  <a:srgbClr val="087E78"/>
                </a:solidFill>
                <a:latin typeface="Aptos"/>
              </a:rPr>
              <a:t>PRIORITY</a:t>
            </a:r>
          </a:p>
        </p:txBody>
      </p:sp>
      <p:sp>
        <p:nvSpPr>
          <p:cNvPr id="14" name="TextBox 13"/>
          <p:cNvSpPr txBox="1"/>
          <p:nvPr/>
        </p:nvSpPr>
        <p:spPr>
          <a:xfrm>
            <a:off x="6400800" y="2212848"/>
            <a:ext cx="1828800" cy="274320"/>
          </a:xfrm>
          <a:prstGeom prst="rect">
            <a:avLst/>
          </a:prstGeom>
          <a:noFill/>
        </p:spPr>
        <p:txBody>
          <a:bodyPr wrap="square" lIns="36576" rIns="36576" tIns="36576" bIns="36576" anchor="t">
            <a:spAutoFit/>
          </a:bodyPr>
          <a:lstStyle/>
          <a:p>
            <a:pPr algn="ctr">
              <a:spcAft>
                <a:spcPts val="500"/>
              </a:spcAft>
            </a:pPr>
            <a:r>
              <a:rPr sz="1000" b="1" i="0">
                <a:solidFill>
                  <a:srgbClr val="087E78"/>
                </a:solidFill>
                <a:latin typeface="Aptos"/>
              </a:rPr>
              <a:t>BOUNDS</a:t>
            </a:r>
          </a:p>
        </p:txBody>
      </p:sp>
      <p:sp>
        <p:nvSpPr>
          <p:cNvPr id="15" name="TextBox 14"/>
          <p:cNvSpPr txBox="1"/>
          <p:nvPr/>
        </p:nvSpPr>
        <p:spPr>
          <a:xfrm>
            <a:off x="9144000" y="2212848"/>
            <a:ext cx="1828800" cy="274320"/>
          </a:xfrm>
          <a:prstGeom prst="rect">
            <a:avLst/>
          </a:prstGeom>
          <a:noFill/>
        </p:spPr>
        <p:txBody>
          <a:bodyPr wrap="square" lIns="36576" rIns="36576" tIns="36576" bIns="36576" anchor="t">
            <a:spAutoFit/>
          </a:bodyPr>
          <a:lstStyle/>
          <a:p>
            <a:pPr algn="ctr">
              <a:spcAft>
                <a:spcPts val="500"/>
              </a:spcAft>
            </a:pPr>
            <a:r>
              <a:rPr sz="1000" b="1" i="0">
                <a:solidFill>
                  <a:srgbClr val="087E78"/>
                </a:solidFill>
                <a:latin typeface="Aptos"/>
              </a:rPr>
              <a:t>EXAMPLE xᵢ</a:t>
            </a:r>
          </a:p>
        </p:txBody>
      </p:sp>
      <p:sp>
        <p:nvSpPr>
          <p:cNvPr id="16" name="Rounded Rectangle 15"/>
          <p:cNvSpPr/>
          <p:nvPr/>
        </p:nvSpPr>
        <p:spPr>
          <a:xfrm>
            <a:off x="822960" y="2587752"/>
            <a:ext cx="10469880" cy="47548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87552" y="2651760"/>
            <a:ext cx="2926080" cy="310896"/>
          </a:xfrm>
          <a:prstGeom prst="rect">
            <a:avLst/>
          </a:prstGeom>
          <a:noFill/>
        </p:spPr>
        <p:txBody>
          <a:bodyPr wrap="square" lIns="36576" rIns="36576" tIns="36576" bIns="36576" anchor="ctr">
            <a:spAutoFit/>
          </a:bodyPr>
          <a:lstStyle/>
          <a:p>
            <a:pPr algn="ctr">
              <a:spcAft>
                <a:spcPts val="500"/>
              </a:spcAft>
            </a:pPr>
            <a:r>
              <a:rPr sz="1200" b="0" i="0">
                <a:solidFill>
                  <a:srgbClr val="17343A"/>
                </a:solidFill>
                <a:latin typeface="Aptos"/>
              </a:rPr>
              <a:t>Web Browsing</a:t>
            </a:r>
          </a:p>
        </p:txBody>
      </p:sp>
      <p:sp>
        <p:nvSpPr>
          <p:cNvPr id="18" name="TextBox 17"/>
          <p:cNvSpPr txBox="1"/>
          <p:nvPr/>
        </p:nvSpPr>
        <p:spPr>
          <a:xfrm>
            <a:off x="4617720" y="2651760"/>
            <a:ext cx="1371600" cy="310896"/>
          </a:xfrm>
          <a:prstGeom prst="rect">
            <a:avLst/>
          </a:prstGeom>
          <a:noFill/>
        </p:spPr>
        <p:txBody>
          <a:bodyPr wrap="square" lIns="36576" rIns="36576" tIns="36576" bIns="36576" anchor="ctr">
            <a:spAutoFit/>
          </a:bodyPr>
          <a:lstStyle/>
          <a:p>
            <a:pPr algn="ctr">
              <a:spcAft>
                <a:spcPts val="500"/>
              </a:spcAft>
            </a:pPr>
            <a:r>
              <a:rPr sz="1200" b="0" i="0">
                <a:solidFill>
                  <a:srgbClr val="17343A"/>
                </a:solidFill>
                <a:latin typeface="Aptos"/>
              </a:rPr>
              <a:t>1.0</a:t>
            </a:r>
          </a:p>
        </p:txBody>
      </p:sp>
      <p:sp>
        <p:nvSpPr>
          <p:cNvPr id="19" name="TextBox 18"/>
          <p:cNvSpPr txBox="1"/>
          <p:nvPr/>
        </p:nvSpPr>
        <p:spPr>
          <a:xfrm>
            <a:off x="6400800" y="2651760"/>
            <a:ext cx="1828800" cy="310896"/>
          </a:xfrm>
          <a:prstGeom prst="rect">
            <a:avLst/>
          </a:prstGeom>
          <a:noFill/>
        </p:spPr>
        <p:txBody>
          <a:bodyPr wrap="square" lIns="36576" rIns="36576" tIns="36576" bIns="36576" anchor="ctr">
            <a:spAutoFit/>
          </a:bodyPr>
          <a:lstStyle/>
          <a:p>
            <a:pPr algn="ctr">
              <a:spcAft>
                <a:spcPts val="500"/>
              </a:spcAft>
            </a:pPr>
            <a:r>
              <a:rPr sz="1200" b="0" i="0">
                <a:solidFill>
                  <a:srgbClr val="17343A"/>
                </a:solidFill>
                <a:latin typeface="Aptos"/>
              </a:rPr>
              <a:t>5–40 Mbps</a:t>
            </a:r>
          </a:p>
        </p:txBody>
      </p:sp>
      <p:sp>
        <p:nvSpPr>
          <p:cNvPr id="20" name="TextBox 19"/>
          <p:cNvSpPr txBox="1"/>
          <p:nvPr/>
        </p:nvSpPr>
        <p:spPr>
          <a:xfrm>
            <a:off x="9144000" y="2651760"/>
            <a:ext cx="1828800" cy="310896"/>
          </a:xfrm>
          <a:prstGeom prst="rect">
            <a:avLst/>
          </a:prstGeom>
          <a:noFill/>
        </p:spPr>
        <p:txBody>
          <a:bodyPr wrap="square" lIns="36576" rIns="36576" tIns="36576" bIns="36576" anchor="ctr">
            <a:spAutoFit/>
          </a:bodyPr>
          <a:lstStyle/>
          <a:p>
            <a:pPr algn="ctr">
              <a:spcAft>
                <a:spcPts val="500"/>
              </a:spcAft>
            </a:pPr>
            <a:r>
              <a:rPr sz="1200" b="0" i="0">
                <a:solidFill>
                  <a:srgbClr val="17343A"/>
                </a:solidFill>
                <a:latin typeface="Aptos"/>
              </a:rPr>
              <a:t>5 Mbps</a:t>
            </a:r>
          </a:p>
        </p:txBody>
      </p:sp>
      <p:sp>
        <p:nvSpPr>
          <p:cNvPr id="21" name="Rounded Rectangle 20"/>
          <p:cNvSpPr/>
          <p:nvPr/>
        </p:nvSpPr>
        <p:spPr>
          <a:xfrm>
            <a:off x="822960" y="3182112"/>
            <a:ext cx="10469880" cy="475488"/>
          </a:xfrm>
          <a:prstGeom prst="roundRect">
            <a:avLst>
              <a:gd name="adj" fmla="val 8000"/>
            </a:avLst>
          </a:prstGeom>
          <a:solidFill>
            <a:srgbClr val="E5F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87552" y="3246120"/>
            <a:ext cx="2926080" cy="310896"/>
          </a:xfrm>
          <a:prstGeom prst="rect">
            <a:avLst/>
          </a:prstGeom>
          <a:noFill/>
        </p:spPr>
        <p:txBody>
          <a:bodyPr wrap="square" lIns="36576" rIns="36576" tIns="36576" bIns="36576" anchor="ctr">
            <a:spAutoFit/>
          </a:bodyPr>
          <a:lstStyle/>
          <a:p>
            <a:pPr algn="ctr">
              <a:spcAft>
                <a:spcPts val="500"/>
              </a:spcAft>
            </a:pPr>
            <a:r>
              <a:rPr sz="1200" b="0" i="0">
                <a:solidFill>
                  <a:srgbClr val="17343A"/>
                </a:solidFill>
                <a:latin typeface="Aptos"/>
              </a:rPr>
              <a:t>Streaming</a:t>
            </a:r>
          </a:p>
        </p:txBody>
      </p:sp>
      <p:sp>
        <p:nvSpPr>
          <p:cNvPr id="23" name="TextBox 22"/>
          <p:cNvSpPr txBox="1"/>
          <p:nvPr/>
        </p:nvSpPr>
        <p:spPr>
          <a:xfrm>
            <a:off x="4617720" y="3246120"/>
            <a:ext cx="1371600" cy="310896"/>
          </a:xfrm>
          <a:prstGeom prst="rect">
            <a:avLst/>
          </a:prstGeom>
          <a:noFill/>
        </p:spPr>
        <p:txBody>
          <a:bodyPr wrap="square" lIns="36576" rIns="36576" tIns="36576" bIns="36576" anchor="ctr">
            <a:spAutoFit/>
          </a:bodyPr>
          <a:lstStyle/>
          <a:p>
            <a:pPr algn="ctr">
              <a:spcAft>
                <a:spcPts val="500"/>
              </a:spcAft>
            </a:pPr>
            <a:r>
              <a:rPr sz="1200" b="0" i="0">
                <a:solidFill>
                  <a:srgbClr val="17343A"/>
                </a:solidFill>
                <a:latin typeface="Aptos"/>
              </a:rPr>
              <a:t>2.0</a:t>
            </a:r>
          </a:p>
        </p:txBody>
      </p:sp>
      <p:sp>
        <p:nvSpPr>
          <p:cNvPr id="24" name="TextBox 23"/>
          <p:cNvSpPr txBox="1"/>
          <p:nvPr/>
        </p:nvSpPr>
        <p:spPr>
          <a:xfrm>
            <a:off x="6400800" y="3246120"/>
            <a:ext cx="1828800" cy="310896"/>
          </a:xfrm>
          <a:prstGeom prst="rect">
            <a:avLst/>
          </a:prstGeom>
          <a:noFill/>
        </p:spPr>
        <p:txBody>
          <a:bodyPr wrap="square" lIns="36576" rIns="36576" tIns="36576" bIns="36576" anchor="ctr">
            <a:spAutoFit/>
          </a:bodyPr>
          <a:lstStyle/>
          <a:p>
            <a:pPr algn="ctr">
              <a:spcAft>
                <a:spcPts val="500"/>
              </a:spcAft>
            </a:pPr>
            <a:r>
              <a:rPr sz="1200" b="0" i="0">
                <a:solidFill>
                  <a:srgbClr val="17343A"/>
                </a:solidFill>
                <a:latin typeface="Aptos"/>
              </a:rPr>
              <a:t>15–60 Mbps</a:t>
            </a:r>
          </a:p>
        </p:txBody>
      </p:sp>
      <p:sp>
        <p:nvSpPr>
          <p:cNvPr id="25" name="TextBox 24"/>
          <p:cNvSpPr txBox="1"/>
          <p:nvPr/>
        </p:nvSpPr>
        <p:spPr>
          <a:xfrm>
            <a:off x="9144000" y="3246120"/>
            <a:ext cx="1828800" cy="310896"/>
          </a:xfrm>
          <a:prstGeom prst="rect">
            <a:avLst/>
          </a:prstGeom>
          <a:noFill/>
        </p:spPr>
        <p:txBody>
          <a:bodyPr wrap="square" lIns="36576" rIns="36576" tIns="36576" bIns="36576" anchor="ctr">
            <a:spAutoFit/>
          </a:bodyPr>
          <a:lstStyle/>
          <a:p>
            <a:pPr algn="ctr">
              <a:spcAft>
                <a:spcPts val="500"/>
              </a:spcAft>
            </a:pPr>
            <a:r>
              <a:rPr sz="1200" b="0" i="0">
                <a:solidFill>
                  <a:srgbClr val="17343A"/>
                </a:solidFill>
                <a:latin typeface="Aptos"/>
              </a:rPr>
              <a:t>43 Mbps</a:t>
            </a:r>
          </a:p>
        </p:txBody>
      </p:sp>
      <p:sp>
        <p:nvSpPr>
          <p:cNvPr id="26" name="Rounded Rectangle 25"/>
          <p:cNvSpPr/>
          <p:nvPr/>
        </p:nvSpPr>
        <p:spPr>
          <a:xfrm>
            <a:off x="822960" y="3776472"/>
            <a:ext cx="10469880" cy="47548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87552" y="3840480"/>
            <a:ext cx="2926080" cy="310896"/>
          </a:xfrm>
          <a:prstGeom prst="rect">
            <a:avLst/>
          </a:prstGeom>
          <a:noFill/>
        </p:spPr>
        <p:txBody>
          <a:bodyPr wrap="square" lIns="36576" rIns="36576" tIns="36576" bIns="36576" anchor="ctr">
            <a:spAutoFit/>
          </a:bodyPr>
          <a:lstStyle/>
          <a:p>
            <a:pPr algn="ctr">
              <a:spcAft>
                <a:spcPts val="500"/>
              </a:spcAft>
            </a:pPr>
            <a:r>
              <a:rPr sz="1200" b="0" i="0">
                <a:solidFill>
                  <a:srgbClr val="17343A"/>
                </a:solidFill>
                <a:latin typeface="Aptos"/>
              </a:rPr>
              <a:t>File Transfer</a:t>
            </a:r>
          </a:p>
        </p:txBody>
      </p:sp>
      <p:sp>
        <p:nvSpPr>
          <p:cNvPr id="28" name="TextBox 27"/>
          <p:cNvSpPr txBox="1"/>
          <p:nvPr/>
        </p:nvSpPr>
        <p:spPr>
          <a:xfrm>
            <a:off x="4617720" y="3840480"/>
            <a:ext cx="1371600" cy="310896"/>
          </a:xfrm>
          <a:prstGeom prst="rect">
            <a:avLst/>
          </a:prstGeom>
          <a:noFill/>
        </p:spPr>
        <p:txBody>
          <a:bodyPr wrap="square" lIns="36576" rIns="36576" tIns="36576" bIns="36576" anchor="ctr">
            <a:spAutoFit/>
          </a:bodyPr>
          <a:lstStyle/>
          <a:p>
            <a:pPr algn="ctr">
              <a:spcAft>
                <a:spcPts val="500"/>
              </a:spcAft>
            </a:pPr>
            <a:r>
              <a:rPr sz="1200" b="0" i="0">
                <a:solidFill>
                  <a:srgbClr val="17343A"/>
                </a:solidFill>
                <a:latin typeface="Aptos"/>
              </a:rPr>
              <a:t>0.5</a:t>
            </a:r>
          </a:p>
        </p:txBody>
      </p:sp>
      <p:sp>
        <p:nvSpPr>
          <p:cNvPr id="29" name="TextBox 28"/>
          <p:cNvSpPr txBox="1"/>
          <p:nvPr/>
        </p:nvSpPr>
        <p:spPr>
          <a:xfrm>
            <a:off x="6400800" y="3840480"/>
            <a:ext cx="1828800" cy="310896"/>
          </a:xfrm>
          <a:prstGeom prst="rect">
            <a:avLst/>
          </a:prstGeom>
          <a:noFill/>
        </p:spPr>
        <p:txBody>
          <a:bodyPr wrap="square" lIns="36576" rIns="36576" tIns="36576" bIns="36576" anchor="ctr">
            <a:spAutoFit/>
          </a:bodyPr>
          <a:lstStyle/>
          <a:p>
            <a:pPr algn="ctr">
              <a:spcAft>
                <a:spcPts val="500"/>
              </a:spcAft>
            </a:pPr>
            <a:r>
              <a:rPr sz="1200" b="0" i="0">
                <a:solidFill>
                  <a:srgbClr val="17343A"/>
                </a:solidFill>
                <a:latin typeface="Aptos"/>
              </a:rPr>
              <a:t>2–30 Mbps</a:t>
            </a:r>
          </a:p>
        </p:txBody>
      </p:sp>
      <p:sp>
        <p:nvSpPr>
          <p:cNvPr id="30" name="TextBox 29"/>
          <p:cNvSpPr txBox="1"/>
          <p:nvPr/>
        </p:nvSpPr>
        <p:spPr>
          <a:xfrm>
            <a:off x="9144000" y="3840480"/>
            <a:ext cx="1828800" cy="310896"/>
          </a:xfrm>
          <a:prstGeom prst="rect">
            <a:avLst/>
          </a:prstGeom>
          <a:noFill/>
        </p:spPr>
        <p:txBody>
          <a:bodyPr wrap="square" lIns="36576" rIns="36576" tIns="36576" bIns="36576" anchor="ctr">
            <a:spAutoFit/>
          </a:bodyPr>
          <a:lstStyle/>
          <a:p>
            <a:pPr algn="ctr">
              <a:spcAft>
                <a:spcPts val="500"/>
              </a:spcAft>
            </a:pPr>
            <a:r>
              <a:rPr sz="1200" b="0" i="0">
                <a:solidFill>
                  <a:srgbClr val="17343A"/>
                </a:solidFill>
                <a:latin typeface="Aptos"/>
              </a:rPr>
              <a:t>2 Mbps</a:t>
            </a:r>
          </a:p>
        </p:txBody>
      </p:sp>
      <p:sp>
        <p:nvSpPr>
          <p:cNvPr id="31" name="Rounded Rectangle 30"/>
          <p:cNvSpPr/>
          <p:nvPr/>
        </p:nvSpPr>
        <p:spPr>
          <a:xfrm>
            <a:off x="822960" y="4370832"/>
            <a:ext cx="10469880" cy="475488"/>
          </a:xfrm>
          <a:prstGeom prst="roundRect">
            <a:avLst>
              <a:gd name="adj" fmla="val 8000"/>
            </a:avLst>
          </a:prstGeom>
          <a:solidFill>
            <a:srgbClr val="E5F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87552" y="4434840"/>
            <a:ext cx="2926080" cy="310896"/>
          </a:xfrm>
          <a:prstGeom prst="rect">
            <a:avLst/>
          </a:prstGeom>
          <a:noFill/>
        </p:spPr>
        <p:txBody>
          <a:bodyPr wrap="square" lIns="36576" rIns="36576" tIns="36576" bIns="36576" anchor="ctr">
            <a:spAutoFit/>
          </a:bodyPr>
          <a:lstStyle/>
          <a:p>
            <a:pPr algn="ctr">
              <a:spcAft>
                <a:spcPts val="500"/>
              </a:spcAft>
            </a:pPr>
            <a:r>
              <a:rPr sz="1200" b="1" i="0">
                <a:solidFill>
                  <a:srgbClr val="17343A"/>
                </a:solidFill>
                <a:latin typeface="Aptos"/>
              </a:rPr>
              <a:t>Critical Services</a:t>
            </a:r>
          </a:p>
        </p:txBody>
      </p:sp>
      <p:sp>
        <p:nvSpPr>
          <p:cNvPr id="33" name="TextBox 32"/>
          <p:cNvSpPr txBox="1"/>
          <p:nvPr/>
        </p:nvSpPr>
        <p:spPr>
          <a:xfrm>
            <a:off x="4617720" y="4434840"/>
            <a:ext cx="1371600" cy="310896"/>
          </a:xfrm>
          <a:prstGeom prst="rect">
            <a:avLst/>
          </a:prstGeom>
          <a:noFill/>
        </p:spPr>
        <p:txBody>
          <a:bodyPr wrap="square" lIns="36576" rIns="36576" tIns="36576" bIns="36576" anchor="ctr">
            <a:spAutoFit/>
          </a:bodyPr>
          <a:lstStyle/>
          <a:p>
            <a:pPr algn="ctr">
              <a:spcAft>
                <a:spcPts val="500"/>
              </a:spcAft>
            </a:pPr>
            <a:r>
              <a:rPr sz="1200" b="1" i="0">
                <a:solidFill>
                  <a:srgbClr val="17343A"/>
                </a:solidFill>
                <a:latin typeface="Aptos"/>
              </a:rPr>
              <a:t>3.0</a:t>
            </a:r>
          </a:p>
        </p:txBody>
      </p:sp>
      <p:sp>
        <p:nvSpPr>
          <p:cNvPr id="34" name="TextBox 33"/>
          <p:cNvSpPr txBox="1"/>
          <p:nvPr/>
        </p:nvSpPr>
        <p:spPr>
          <a:xfrm>
            <a:off x="6400800" y="4434840"/>
            <a:ext cx="1828800" cy="310896"/>
          </a:xfrm>
          <a:prstGeom prst="rect">
            <a:avLst/>
          </a:prstGeom>
          <a:noFill/>
        </p:spPr>
        <p:txBody>
          <a:bodyPr wrap="square" lIns="36576" rIns="36576" tIns="36576" bIns="36576" anchor="ctr">
            <a:spAutoFit/>
          </a:bodyPr>
          <a:lstStyle/>
          <a:p>
            <a:pPr algn="ctr">
              <a:spcAft>
                <a:spcPts val="500"/>
              </a:spcAft>
            </a:pPr>
            <a:r>
              <a:rPr sz="1200" b="1" i="0">
                <a:solidFill>
                  <a:srgbClr val="17343A"/>
                </a:solidFill>
                <a:latin typeface="Aptos"/>
              </a:rPr>
              <a:t>10–50 Mbps</a:t>
            </a:r>
          </a:p>
        </p:txBody>
      </p:sp>
      <p:sp>
        <p:nvSpPr>
          <p:cNvPr id="35" name="TextBox 34"/>
          <p:cNvSpPr txBox="1"/>
          <p:nvPr/>
        </p:nvSpPr>
        <p:spPr>
          <a:xfrm>
            <a:off x="9144000" y="4434840"/>
            <a:ext cx="1828800" cy="310896"/>
          </a:xfrm>
          <a:prstGeom prst="rect">
            <a:avLst/>
          </a:prstGeom>
          <a:noFill/>
        </p:spPr>
        <p:txBody>
          <a:bodyPr wrap="square" lIns="36576" rIns="36576" tIns="36576" bIns="36576" anchor="ctr">
            <a:spAutoFit/>
          </a:bodyPr>
          <a:lstStyle/>
          <a:p>
            <a:pPr algn="ctr">
              <a:spcAft>
                <a:spcPts val="500"/>
              </a:spcAft>
            </a:pPr>
            <a:r>
              <a:rPr sz="1200" b="1" i="0">
                <a:solidFill>
                  <a:srgbClr val="17343A"/>
                </a:solidFill>
                <a:latin typeface="Aptos"/>
              </a:rPr>
              <a:t>50 Mbps</a:t>
            </a:r>
          </a:p>
        </p:txBody>
      </p:sp>
      <p:sp>
        <p:nvSpPr>
          <p:cNvPr id="36" name="Rounded Rectangle 35"/>
          <p:cNvSpPr/>
          <p:nvPr/>
        </p:nvSpPr>
        <p:spPr>
          <a:xfrm>
            <a:off x="932688" y="5193792"/>
            <a:ext cx="4617720" cy="795528"/>
          </a:xfrm>
          <a:prstGeom prst="roundRect">
            <a:avLst>
              <a:gd name="adj" fmla="val 8000"/>
            </a:avLst>
          </a:prstGeom>
          <a:solidFill>
            <a:srgbClr val="173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97280" y="5285231"/>
            <a:ext cx="4288536" cy="228600"/>
          </a:xfrm>
          <a:prstGeom prst="rect">
            <a:avLst/>
          </a:prstGeom>
          <a:noFill/>
        </p:spPr>
        <p:txBody>
          <a:bodyPr wrap="square" lIns="36576" rIns="36576" tIns="36576" bIns="36576" anchor="t">
            <a:spAutoFit/>
          </a:bodyPr>
          <a:lstStyle/>
          <a:p>
            <a:pPr algn="l">
              <a:spcAft>
                <a:spcPts val="500"/>
              </a:spcAft>
            </a:pPr>
            <a:r>
              <a:rPr sz="900" b="1" i="0">
                <a:solidFill>
                  <a:srgbClr val="D7ED76"/>
                </a:solidFill>
                <a:latin typeface="Aptos"/>
              </a:rPr>
              <a:t>CAPACITY CHECK</a:t>
            </a:r>
          </a:p>
        </p:txBody>
      </p:sp>
      <p:sp>
        <p:nvSpPr>
          <p:cNvPr id="38" name="TextBox 37"/>
          <p:cNvSpPr txBox="1"/>
          <p:nvPr/>
        </p:nvSpPr>
        <p:spPr>
          <a:xfrm>
            <a:off x="1097280" y="5577840"/>
            <a:ext cx="4288536" cy="338328"/>
          </a:xfrm>
          <a:prstGeom prst="rect">
            <a:avLst/>
          </a:prstGeom>
          <a:noFill/>
        </p:spPr>
        <p:txBody>
          <a:bodyPr wrap="square" lIns="36576" rIns="36576" tIns="36576" bIns="36576" anchor="ctr">
            <a:spAutoFit/>
          </a:bodyPr>
          <a:lstStyle/>
          <a:p>
            <a:pPr algn="l">
              <a:spcAft>
                <a:spcPts val="500"/>
              </a:spcAft>
            </a:pPr>
            <a:r>
              <a:rPr sz="1700" b="1" i="0">
                <a:solidFill>
                  <a:srgbClr val="FFFFFF"/>
                </a:solidFill>
                <a:latin typeface="Aptos"/>
              </a:rPr>
              <a:t>5 + 43 + 2 + 50 = 100 Mbps</a:t>
            </a:r>
          </a:p>
        </p:txBody>
      </p:sp>
      <p:sp>
        <p:nvSpPr>
          <p:cNvPr id="39" name="Rounded Rectangle 38"/>
          <p:cNvSpPr/>
          <p:nvPr/>
        </p:nvSpPr>
        <p:spPr>
          <a:xfrm>
            <a:off x="5989320" y="5193792"/>
            <a:ext cx="4617720" cy="795528"/>
          </a:xfrm>
          <a:prstGeom prst="roundRect">
            <a:avLst>
              <a:gd name="adj" fmla="val 8000"/>
            </a:avLst>
          </a:prstGeom>
          <a:solidFill>
            <a:srgbClr val="173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153912" y="5285231"/>
            <a:ext cx="4288536" cy="228600"/>
          </a:xfrm>
          <a:prstGeom prst="rect">
            <a:avLst/>
          </a:prstGeom>
          <a:noFill/>
        </p:spPr>
        <p:txBody>
          <a:bodyPr wrap="square" lIns="36576" rIns="36576" tIns="36576" bIns="36576" anchor="t">
            <a:spAutoFit/>
          </a:bodyPr>
          <a:lstStyle/>
          <a:p>
            <a:pPr algn="l">
              <a:spcAft>
                <a:spcPts val="500"/>
              </a:spcAft>
            </a:pPr>
            <a:r>
              <a:rPr sz="900" b="1" i="0">
                <a:solidFill>
                  <a:srgbClr val="D7ED76"/>
                </a:solidFill>
                <a:latin typeface="Aptos"/>
              </a:rPr>
              <a:t>WEIGHTED UTILITY</a:t>
            </a:r>
          </a:p>
        </p:txBody>
      </p:sp>
      <p:sp>
        <p:nvSpPr>
          <p:cNvPr id="41" name="TextBox 40"/>
          <p:cNvSpPr txBox="1"/>
          <p:nvPr/>
        </p:nvSpPr>
        <p:spPr>
          <a:xfrm>
            <a:off x="6153912" y="5577840"/>
            <a:ext cx="4288536" cy="338328"/>
          </a:xfrm>
          <a:prstGeom prst="rect">
            <a:avLst/>
          </a:prstGeom>
          <a:noFill/>
        </p:spPr>
        <p:txBody>
          <a:bodyPr wrap="square" lIns="36576" rIns="36576" tIns="36576" bIns="36576" anchor="ctr">
            <a:spAutoFit/>
          </a:bodyPr>
          <a:lstStyle/>
          <a:p>
            <a:pPr algn="l">
              <a:spcAft>
                <a:spcPts val="500"/>
              </a:spcAft>
            </a:pPr>
            <a:r>
              <a:rPr sz="1500" b="1" i="0">
                <a:solidFill>
                  <a:srgbClr val="FFFFFF"/>
                </a:solidFill>
                <a:latin typeface="Aptos"/>
              </a:rPr>
              <a:t>1·5 + 2·43 + 0.5·2 + 3·50 = 242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6F1"/>
        </a:solidFill>
        <a:effectLst/>
      </p:bgPr>
    </p:bg>
    <p:spTree>
      <p:nvGrpSpPr>
        <p:cNvPr id="1" name=""/>
        <p:cNvGrpSpPr/>
        <p:nvPr/>
      </p:nvGrpSpPr>
      <p:grpSpPr/>
      <p:sp>
        <p:nvSpPr>
          <p:cNvPr id="2" name="Rounded Rectangle 1"/>
          <p:cNvSpPr/>
          <p:nvPr/>
        </p:nvSpPr>
        <p:spPr>
          <a:xfrm>
            <a:off x="502920" y="310896"/>
            <a:ext cx="310896" cy="310896"/>
          </a:xfrm>
          <a:prstGeom prst="roundRect">
            <a:avLst>
              <a:gd name="adj" fmla="val 8000"/>
            </a:avLst>
          </a:prstGeom>
          <a:solidFill>
            <a:srgbClr val="D7ED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315468"/>
            <a:ext cx="256032" cy="265176"/>
          </a:xfrm>
          <a:prstGeom prst="rect">
            <a:avLst/>
          </a:prstGeom>
          <a:noFill/>
        </p:spPr>
        <p:txBody>
          <a:bodyPr wrap="square" lIns="0" rIns="0" tIns="0" bIns="0" anchor="ctr">
            <a:spAutoFit/>
          </a:bodyPr>
          <a:lstStyle/>
          <a:p>
            <a:pPr algn="ctr">
              <a:spcAft>
                <a:spcPts val="500"/>
              </a:spcAft>
            </a:pPr>
            <a:r>
              <a:rPr sz="1500" b="1" i="0">
                <a:solidFill>
                  <a:srgbClr val="17343A"/>
                </a:solidFill>
                <a:latin typeface="Aptos"/>
              </a:rPr>
              <a:t>N</a:t>
            </a:r>
          </a:p>
        </p:txBody>
      </p:sp>
      <p:sp>
        <p:nvSpPr>
          <p:cNvPr id="4" name="TextBox 3"/>
          <p:cNvSpPr txBox="1"/>
          <p:nvPr/>
        </p:nvSpPr>
        <p:spPr>
          <a:xfrm>
            <a:off x="905256" y="310896"/>
            <a:ext cx="2103120" cy="274320"/>
          </a:xfrm>
          <a:prstGeom prst="rect">
            <a:avLst/>
          </a:prstGeom>
          <a:noFill/>
        </p:spPr>
        <p:txBody>
          <a:bodyPr wrap="square" lIns="36576" rIns="36576" tIns="36576" bIns="36576" anchor="ctr">
            <a:spAutoFit/>
          </a:bodyPr>
          <a:lstStyle/>
          <a:p>
            <a:pPr algn="l">
              <a:spcAft>
                <a:spcPts val="500"/>
              </a:spcAft>
            </a:pPr>
            <a:r>
              <a:rPr sz="1000" b="1" i="0">
                <a:solidFill>
                  <a:srgbClr val="087E78"/>
                </a:solidFill>
                <a:latin typeface="Aptos"/>
              </a:rPr>
              <a:t>NETINSIGHT-X</a:t>
            </a:r>
          </a:p>
        </p:txBody>
      </p:sp>
      <p:sp>
        <p:nvSpPr>
          <p:cNvPr id="5" name="TextBox 4"/>
          <p:cNvSpPr txBox="1"/>
          <p:nvPr/>
        </p:nvSpPr>
        <p:spPr>
          <a:xfrm>
            <a:off x="8321040" y="310896"/>
            <a:ext cx="3337560" cy="274320"/>
          </a:xfrm>
          <a:prstGeom prst="rect">
            <a:avLst/>
          </a:prstGeom>
          <a:noFill/>
        </p:spPr>
        <p:txBody>
          <a:bodyPr wrap="square" lIns="36576" rIns="36576" tIns="36576" bIns="36576" anchor="ctr">
            <a:spAutoFit/>
          </a:bodyPr>
          <a:lstStyle/>
          <a:p>
            <a:pPr algn="r">
              <a:spcAft>
                <a:spcPts val="500"/>
              </a:spcAft>
            </a:pPr>
            <a:r>
              <a:rPr sz="900" b="1" i="0">
                <a:solidFill>
                  <a:srgbClr val="526A70"/>
                </a:solidFill>
                <a:latin typeface="Aptos"/>
              </a:rPr>
              <a:t>OPTIMIZATION VERIFICATION  ·  08</a:t>
            </a:r>
          </a:p>
        </p:txBody>
      </p:sp>
      <p:sp>
        <p:nvSpPr>
          <p:cNvPr id="6" name="TextBox 5"/>
          <p:cNvSpPr txBox="1"/>
          <p:nvPr/>
        </p:nvSpPr>
        <p:spPr>
          <a:xfrm>
            <a:off x="594360" y="786384"/>
            <a:ext cx="10972800" cy="521207"/>
          </a:xfrm>
          <a:prstGeom prst="rect">
            <a:avLst/>
          </a:prstGeom>
          <a:noFill/>
        </p:spPr>
        <p:txBody>
          <a:bodyPr wrap="square" lIns="36576" rIns="36576" tIns="36576" bIns="36576" anchor="ctr">
            <a:spAutoFit/>
          </a:bodyPr>
          <a:lstStyle/>
          <a:p>
            <a:pPr algn="l">
              <a:spcAft>
                <a:spcPts val="500"/>
              </a:spcAft>
            </a:pPr>
            <a:r>
              <a:rPr sz="2800" b="1" i="0">
                <a:solidFill>
                  <a:srgbClr val="17343A"/>
                </a:solidFill>
                <a:latin typeface="Aptos"/>
              </a:rPr>
              <a:t>How We Check the Optimizer's Solution</a:t>
            </a:r>
          </a:p>
        </p:txBody>
      </p:sp>
      <p:sp>
        <p:nvSpPr>
          <p:cNvPr id="7" name="Rectangle 6"/>
          <p:cNvSpPr/>
          <p:nvPr/>
        </p:nvSpPr>
        <p:spPr>
          <a:xfrm>
            <a:off x="612648" y="1399032"/>
            <a:ext cx="685800" cy="41148"/>
          </a:xfrm>
          <a:prstGeom prst="rect">
            <a:avLst/>
          </a:prstGeom>
          <a:solidFill>
            <a:srgbClr val="E66D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6519672"/>
            <a:ext cx="10991088" cy="10972"/>
          </a:xfrm>
          <a:prstGeom prst="rect">
            <a:avLst/>
          </a:prstGeom>
          <a:solidFill>
            <a:srgbClr val="D5E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6565392"/>
            <a:ext cx="5943600" cy="164592"/>
          </a:xfrm>
          <a:prstGeom prst="rect">
            <a:avLst/>
          </a:prstGeom>
          <a:noFill/>
        </p:spPr>
        <p:txBody>
          <a:bodyPr wrap="square" lIns="36576" rIns="36576" tIns="36576" bIns="36576" anchor="ctr">
            <a:spAutoFit/>
          </a:bodyPr>
          <a:lstStyle/>
          <a:p>
            <a:pPr algn="l">
              <a:spcAft>
                <a:spcPts val="500"/>
              </a:spcAft>
            </a:pPr>
            <a:r>
              <a:rPr sz="800" b="1" i="0">
                <a:solidFill>
                  <a:srgbClr val="526A70"/>
                </a:solidFill>
                <a:latin typeface="Aptos"/>
              </a:rPr>
              <a:t>NETINSIGHT-X  |  PROJECT REVIEW</a:t>
            </a:r>
          </a:p>
        </p:txBody>
      </p:sp>
      <p:sp>
        <p:nvSpPr>
          <p:cNvPr id="10" name="TextBox 9"/>
          <p:cNvSpPr txBox="1"/>
          <p:nvPr/>
        </p:nvSpPr>
        <p:spPr>
          <a:xfrm>
            <a:off x="10972800" y="6547104"/>
            <a:ext cx="594360" cy="182880"/>
          </a:xfrm>
          <a:prstGeom prst="rect">
            <a:avLst/>
          </a:prstGeom>
          <a:noFill/>
        </p:spPr>
        <p:txBody>
          <a:bodyPr wrap="square" lIns="36576" rIns="36576" tIns="36576" bIns="36576" anchor="ctr">
            <a:spAutoFit/>
          </a:bodyPr>
          <a:lstStyle/>
          <a:p>
            <a:pPr algn="r">
              <a:spcAft>
                <a:spcPts val="500"/>
              </a:spcAft>
            </a:pPr>
            <a:r>
              <a:rPr sz="900" b="1" i="0">
                <a:solidFill>
                  <a:srgbClr val="526A70"/>
                </a:solidFill>
                <a:latin typeface="Aptos"/>
              </a:rPr>
              <a:t>08</a:t>
            </a:r>
          </a:p>
        </p:txBody>
      </p:sp>
      <p:sp>
        <p:nvSpPr>
          <p:cNvPr id="11" name="TextBox 10"/>
          <p:cNvSpPr txBox="1"/>
          <p:nvPr/>
        </p:nvSpPr>
        <p:spPr>
          <a:xfrm>
            <a:off x="768096" y="1673352"/>
            <a:ext cx="10515600" cy="384048"/>
          </a:xfrm>
          <a:prstGeom prst="rect">
            <a:avLst/>
          </a:prstGeom>
          <a:noFill/>
        </p:spPr>
        <p:txBody>
          <a:bodyPr wrap="square" lIns="36576" rIns="36576" tIns="36576" bIns="36576" anchor="t">
            <a:spAutoFit/>
          </a:bodyPr>
          <a:lstStyle/>
          <a:p>
            <a:pPr algn="l">
              <a:spcAft>
                <a:spcPts val="500"/>
              </a:spcAft>
            </a:pPr>
            <a:r>
              <a:rPr sz="1500" b="0" i="0">
                <a:solidFill>
                  <a:srgbClr val="526A70"/>
                </a:solidFill>
                <a:latin typeface="Aptos"/>
              </a:rPr>
              <a:t>For the LP form  min cᵀx  subject to  Gx ≤ h, the verifier checks KKT conditions.</a:t>
            </a:r>
          </a:p>
        </p:txBody>
      </p:sp>
      <p:sp>
        <p:nvSpPr>
          <p:cNvPr id="12" name="Rounded Rectangle 11"/>
          <p:cNvSpPr/>
          <p:nvPr/>
        </p:nvSpPr>
        <p:spPr>
          <a:xfrm>
            <a:off x="804672" y="2331720"/>
            <a:ext cx="4983480" cy="1097280"/>
          </a:xfrm>
          <a:prstGeom prst="roundRect">
            <a:avLst>
              <a:gd name="adj" fmla="val 8000"/>
            </a:avLst>
          </a:prstGeom>
          <a:solidFill>
            <a:srgbClr val="173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9264" y="2423160"/>
            <a:ext cx="4654296" cy="228600"/>
          </a:xfrm>
          <a:prstGeom prst="rect">
            <a:avLst/>
          </a:prstGeom>
          <a:noFill/>
        </p:spPr>
        <p:txBody>
          <a:bodyPr wrap="square" lIns="36576" rIns="36576" tIns="36576" bIns="36576" anchor="t">
            <a:spAutoFit/>
          </a:bodyPr>
          <a:lstStyle/>
          <a:p>
            <a:pPr algn="l">
              <a:spcAft>
                <a:spcPts val="500"/>
              </a:spcAft>
            </a:pPr>
            <a:r>
              <a:rPr sz="900" b="1" i="0">
                <a:solidFill>
                  <a:srgbClr val="D7ED76"/>
                </a:solidFill>
                <a:latin typeface="Aptos"/>
              </a:rPr>
              <a:t>1 · PRIMAL FEASIBILITY</a:t>
            </a:r>
          </a:p>
        </p:txBody>
      </p:sp>
      <p:sp>
        <p:nvSpPr>
          <p:cNvPr id="14" name="TextBox 13"/>
          <p:cNvSpPr txBox="1"/>
          <p:nvPr/>
        </p:nvSpPr>
        <p:spPr>
          <a:xfrm>
            <a:off x="969264" y="2715768"/>
            <a:ext cx="4654296" cy="640080"/>
          </a:xfrm>
          <a:prstGeom prst="rect">
            <a:avLst/>
          </a:prstGeom>
          <a:noFill/>
        </p:spPr>
        <p:txBody>
          <a:bodyPr wrap="square" lIns="36576" rIns="36576" tIns="36576" bIns="36576" anchor="ctr">
            <a:spAutoFit/>
          </a:bodyPr>
          <a:lstStyle/>
          <a:p>
            <a:pPr algn="l">
              <a:spcAft>
                <a:spcPts val="500"/>
              </a:spcAft>
            </a:pPr>
            <a:r>
              <a:rPr sz="2300" b="1" i="0">
                <a:solidFill>
                  <a:srgbClr val="FFFFFF"/>
                </a:solidFill>
                <a:latin typeface="Aptos"/>
              </a:rPr>
              <a:t>Gx ≤ h</a:t>
            </a:r>
          </a:p>
        </p:txBody>
      </p:sp>
      <p:sp>
        <p:nvSpPr>
          <p:cNvPr id="15" name="Rounded Rectangle 14"/>
          <p:cNvSpPr/>
          <p:nvPr/>
        </p:nvSpPr>
        <p:spPr>
          <a:xfrm>
            <a:off x="6172200" y="2331720"/>
            <a:ext cx="4983480" cy="1097280"/>
          </a:xfrm>
          <a:prstGeom prst="roundRect">
            <a:avLst>
              <a:gd name="adj" fmla="val 8000"/>
            </a:avLst>
          </a:prstGeom>
          <a:solidFill>
            <a:srgbClr val="173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36792" y="2423160"/>
            <a:ext cx="4654296" cy="228600"/>
          </a:xfrm>
          <a:prstGeom prst="rect">
            <a:avLst/>
          </a:prstGeom>
          <a:noFill/>
        </p:spPr>
        <p:txBody>
          <a:bodyPr wrap="square" lIns="36576" rIns="36576" tIns="36576" bIns="36576" anchor="t">
            <a:spAutoFit/>
          </a:bodyPr>
          <a:lstStyle/>
          <a:p>
            <a:pPr algn="l">
              <a:spcAft>
                <a:spcPts val="500"/>
              </a:spcAft>
            </a:pPr>
            <a:r>
              <a:rPr sz="900" b="1" i="0">
                <a:solidFill>
                  <a:srgbClr val="D7ED76"/>
                </a:solidFill>
                <a:latin typeface="Aptos"/>
              </a:rPr>
              <a:t>2 · DUAL FEASIBILITY</a:t>
            </a:r>
          </a:p>
        </p:txBody>
      </p:sp>
      <p:sp>
        <p:nvSpPr>
          <p:cNvPr id="17" name="TextBox 16"/>
          <p:cNvSpPr txBox="1"/>
          <p:nvPr/>
        </p:nvSpPr>
        <p:spPr>
          <a:xfrm>
            <a:off x="6336792" y="2715768"/>
            <a:ext cx="4654296" cy="640080"/>
          </a:xfrm>
          <a:prstGeom prst="rect">
            <a:avLst/>
          </a:prstGeom>
          <a:noFill/>
        </p:spPr>
        <p:txBody>
          <a:bodyPr wrap="square" lIns="36576" rIns="36576" tIns="36576" bIns="36576" anchor="ctr">
            <a:spAutoFit/>
          </a:bodyPr>
          <a:lstStyle/>
          <a:p>
            <a:pPr algn="l">
              <a:spcAft>
                <a:spcPts val="500"/>
              </a:spcAft>
            </a:pPr>
            <a:r>
              <a:rPr sz="2300" b="1" i="0">
                <a:solidFill>
                  <a:srgbClr val="FFFFFF"/>
                </a:solidFill>
                <a:latin typeface="Aptos"/>
              </a:rPr>
              <a:t>z ≥ 0</a:t>
            </a:r>
          </a:p>
        </p:txBody>
      </p:sp>
      <p:sp>
        <p:nvSpPr>
          <p:cNvPr id="18" name="Rounded Rectangle 17"/>
          <p:cNvSpPr/>
          <p:nvPr/>
        </p:nvSpPr>
        <p:spPr>
          <a:xfrm>
            <a:off x="804672" y="3703320"/>
            <a:ext cx="4983480" cy="1097280"/>
          </a:xfrm>
          <a:prstGeom prst="roundRect">
            <a:avLst>
              <a:gd name="adj" fmla="val 8000"/>
            </a:avLst>
          </a:prstGeom>
          <a:solidFill>
            <a:srgbClr val="173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9264" y="3794759"/>
            <a:ext cx="4654296" cy="228600"/>
          </a:xfrm>
          <a:prstGeom prst="rect">
            <a:avLst/>
          </a:prstGeom>
          <a:noFill/>
        </p:spPr>
        <p:txBody>
          <a:bodyPr wrap="square" lIns="36576" rIns="36576" tIns="36576" bIns="36576" anchor="t">
            <a:spAutoFit/>
          </a:bodyPr>
          <a:lstStyle/>
          <a:p>
            <a:pPr algn="l">
              <a:spcAft>
                <a:spcPts val="500"/>
              </a:spcAft>
            </a:pPr>
            <a:r>
              <a:rPr sz="900" b="1" i="0">
                <a:solidFill>
                  <a:srgbClr val="D7ED76"/>
                </a:solidFill>
                <a:latin typeface="Aptos"/>
              </a:rPr>
              <a:t>3 · COMPLEMENTARY SLACKNESS</a:t>
            </a:r>
          </a:p>
        </p:txBody>
      </p:sp>
      <p:sp>
        <p:nvSpPr>
          <p:cNvPr id="20" name="TextBox 19"/>
          <p:cNvSpPr txBox="1"/>
          <p:nvPr/>
        </p:nvSpPr>
        <p:spPr>
          <a:xfrm>
            <a:off x="969264" y="4087368"/>
            <a:ext cx="4654296" cy="640080"/>
          </a:xfrm>
          <a:prstGeom prst="rect">
            <a:avLst/>
          </a:prstGeom>
          <a:noFill/>
        </p:spPr>
        <p:txBody>
          <a:bodyPr wrap="square" lIns="36576" rIns="36576" tIns="36576" bIns="36576" anchor="ctr">
            <a:spAutoFit/>
          </a:bodyPr>
          <a:lstStyle/>
          <a:p>
            <a:pPr algn="l">
              <a:spcAft>
                <a:spcPts val="500"/>
              </a:spcAft>
            </a:pPr>
            <a:r>
              <a:rPr sz="1900" b="1" i="0">
                <a:solidFill>
                  <a:srgbClr val="FFFFFF"/>
                </a:solidFill>
                <a:latin typeface="Aptos"/>
              </a:rPr>
              <a:t>z ⊙ (Gx − h) = 0</a:t>
            </a:r>
          </a:p>
        </p:txBody>
      </p:sp>
      <p:sp>
        <p:nvSpPr>
          <p:cNvPr id="21" name="Rounded Rectangle 20"/>
          <p:cNvSpPr/>
          <p:nvPr/>
        </p:nvSpPr>
        <p:spPr>
          <a:xfrm>
            <a:off x="6172200" y="3703320"/>
            <a:ext cx="4983480" cy="1097280"/>
          </a:xfrm>
          <a:prstGeom prst="roundRect">
            <a:avLst>
              <a:gd name="adj" fmla="val 8000"/>
            </a:avLst>
          </a:prstGeom>
          <a:solidFill>
            <a:srgbClr val="173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36792" y="3794759"/>
            <a:ext cx="4654296" cy="228600"/>
          </a:xfrm>
          <a:prstGeom prst="rect">
            <a:avLst/>
          </a:prstGeom>
          <a:noFill/>
        </p:spPr>
        <p:txBody>
          <a:bodyPr wrap="square" lIns="36576" rIns="36576" tIns="36576" bIns="36576" anchor="t">
            <a:spAutoFit/>
          </a:bodyPr>
          <a:lstStyle/>
          <a:p>
            <a:pPr algn="l">
              <a:spcAft>
                <a:spcPts val="500"/>
              </a:spcAft>
            </a:pPr>
            <a:r>
              <a:rPr sz="900" b="1" i="0">
                <a:solidFill>
                  <a:srgbClr val="D7ED76"/>
                </a:solidFill>
                <a:latin typeface="Aptos"/>
              </a:rPr>
              <a:t>4 · STATIONARITY</a:t>
            </a:r>
          </a:p>
        </p:txBody>
      </p:sp>
      <p:sp>
        <p:nvSpPr>
          <p:cNvPr id="23" name="TextBox 22"/>
          <p:cNvSpPr txBox="1"/>
          <p:nvPr/>
        </p:nvSpPr>
        <p:spPr>
          <a:xfrm>
            <a:off x="6336792" y="4087368"/>
            <a:ext cx="4654296" cy="640080"/>
          </a:xfrm>
          <a:prstGeom prst="rect">
            <a:avLst/>
          </a:prstGeom>
          <a:noFill/>
        </p:spPr>
        <p:txBody>
          <a:bodyPr wrap="square" lIns="36576" rIns="36576" tIns="36576" bIns="36576" anchor="ctr">
            <a:spAutoFit/>
          </a:bodyPr>
          <a:lstStyle/>
          <a:p>
            <a:pPr algn="l">
              <a:spcAft>
                <a:spcPts val="500"/>
              </a:spcAft>
            </a:pPr>
            <a:r>
              <a:rPr sz="2100" b="1" i="0">
                <a:solidFill>
                  <a:srgbClr val="FFFFFF"/>
                </a:solidFill>
                <a:latin typeface="Aptos"/>
              </a:rPr>
              <a:t>c + Gᵀz = 0</a:t>
            </a:r>
          </a:p>
        </p:txBody>
      </p:sp>
      <p:sp>
        <p:nvSpPr>
          <p:cNvPr id="24" name="TextBox 23"/>
          <p:cNvSpPr txBox="1"/>
          <p:nvPr/>
        </p:nvSpPr>
        <p:spPr>
          <a:xfrm>
            <a:off x="960120" y="5230368"/>
            <a:ext cx="10058400" cy="612648"/>
          </a:xfrm>
          <a:prstGeom prst="rect">
            <a:avLst/>
          </a:prstGeom>
          <a:noFill/>
        </p:spPr>
        <p:txBody>
          <a:bodyPr wrap="square" lIns="36576" rIns="36576" tIns="36576" bIns="36576" anchor="ctr">
            <a:spAutoFit/>
          </a:bodyPr>
          <a:lstStyle/>
          <a:p>
            <a:pPr algn="ctr">
              <a:spcAft>
                <a:spcPts val="500"/>
              </a:spcAft>
            </a:pPr>
            <a:r>
              <a:rPr sz="1300" b="1" i="0">
                <a:solidFill>
                  <a:srgbClr val="17343A"/>
                </a:solidFill>
                <a:latin typeface="Aptos"/>
              </a:rPr>
              <a:t>Numerical tolerance: 10⁻⁵. These checks test feasibility and optimality of the mathematical solution; they do not measure real-world fairness or throughput.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6F1"/>
        </a:solidFill>
        <a:effectLst/>
      </p:bgPr>
    </p:bg>
    <p:spTree>
      <p:nvGrpSpPr>
        <p:cNvPr id="1" name=""/>
        <p:cNvGrpSpPr/>
        <p:nvPr/>
      </p:nvGrpSpPr>
      <p:grpSpPr/>
      <p:sp>
        <p:nvSpPr>
          <p:cNvPr id="2" name="Rounded Rectangle 1"/>
          <p:cNvSpPr/>
          <p:nvPr/>
        </p:nvSpPr>
        <p:spPr>
          <a:xfrm>
            <a:off x="502920" y="310896"/>
            <a:ext cx="310896" cy="310896"/>
          </a:xfrm>
          <a:prstGeom prst="roundRect">
            <a:avLst>
              <a:gd name="adj" fmla="val 8000"/>
            </a:avLst>
          </a:prstGeom>
          <a:solidFill>
            <a:srgbClr val="D7ED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315468"/>
            <a:ext cx="256032" cy="265176"/>
          </a:xfrm>
          <a:prstGeom prst="rect">
            <a:avLst/>
          </a:prstGeom>
          <a:noFill/>
        </p:spPr>
        <p:txBody>
          <a:bodyPr wrap="square" lIns="0" rIns="0" tIns="0" bIns="0" anchor="ctr">
            <a:spAutoFit/>
          </a:bodyPr>
          <a:lstStyle/>
          <a:p>
            <a:pPr algn="ctr">
              <a:spcAft>
                <a:spcPts val="500"/>
              </a:spcAft>
            </a:pPr>
            <a:r>
              <a:rPr sz="1500" b="1" i="0">
                <a:solidFill>
                  <a:srgbClr val="17343A"/>
                </a:solidFill>
                <a:latin typeface="Aptos"/>
              </a:rPr>
              <a:t>N</a:t>
            </a:r>
          </a:p>
        </p:txBody>
      </p:sp>
      <p:sp>
        <p:nvSpPr>
          <p:cNvPr id="4" name="TextBox 3"/>
          <p:cNvSpPr txBox="1"/>
          <p:nvPr/>
        </p:nvSpPr>
        <p:spPr>
          <a:xfrm>
            <a:off x="905256" y="310896"/>
            <a:ext cx="2103120" cy="274320"/>
          </a:xfrm>
          <a:prstGeom prst="rect">
            <a:avLst/>
          </a:prstGeom>
          <a:noFill/>
        </p:spPr>
        <p:txBody>
          <a:bodyPr wrap="square" lIns="36576" rIns="36576" tIns="36576" bIns="36576" anchor="ctr">
            <a:spAutoFit/>
          </a:bodyPr>
          <a:lstStyle/>
          <a:p>
            <a:pPr algn="l">
              <a:spcAft>
                <a:spcPts val="500"/>
              </a:spcAft>
            </a:pPr>
            <a:r>
              <a:rPr sz="1000" b="1" i="0">
                <a:solidFill>
                  <a:srgbClr val="087E78"/>
                </a:solidFill>
                <a:latin typeface="Aptos"/>
              </a:rPr>
              <a:t>NETINSIGHT-X</a:t>
            </a:r>
          </a:p>
        </p:txBody>
      </p:sp>
      <p:sp>
        <p:nvSpPr>
          <p:cNvPr id="5" name="TextBox 4"/>
          <p:cNvSpPr txBox="1"/>
          <p:nvPr/>
        </p:nvSpPr>
        <p:spPr>
          <a:xfrm>
            <a:off x="8321040" y="310896"/>
            <a:ext cx="3337560" cy="274320"/>
          </a:xfrm>
          <a:prstGeom prst="rect">
            <a:avLst/>
          </a:prstGeom>
          <a:noFill/>
        </p:spPr>
        <p:txBody>
          <a:bodyPr wrap="square" lIns="36576" rIns="36576" tIns="36576" bIns="36576" anchor="ctr">
            <a:spAutoFit/>
          </a:bodyPr>
          <a:lstStyle/>
          <a:p>
            <a:pPr algn="r">
              <a:spcAft>
                <a:spcPts val="500"/>
              </a:spcAft>
            </a:pPr>
            <a:r>
              <a:rPr sz="900" b="1" i="0">
                <a:solidFill>
                  <a:srgbClr val="526A70"/>
                </a:solidFill>
                <a:latin typeface="Aptos"/>
              </a:rPr>
              <a:t>SECURITY AND CAPACITY  ·  09</a:t>
            </a:r>
          </a:p>
        </p:txBody>
      </p:sp>
      <p:sp>
        <p:nvSpPr>
          <p:cNvPr id="6" name="TextBox 5"/>
          <p:cNvSpPr txBox="1"/>
          <p:nvPr/>
        </p:nvSpPr>
        <p:spPr>
          <a:xfrm>
            <a:off x="594360" y="786384"/>
            <a:ext cx="10972800" cy="521207"/>
          </a:xfrm>
          <a:prstGeom prst="rect">
            <a:avLst/>
          </a:prstGeom>
          <a:noFill/>
        </p:spPr>
        <p:txBody>
          <a:bodyPr wrap="square" lIns="36576" rIns="36576" tIns="36576" bIns="36576" anchor="ctr">
            <a:spAutoFit/>
          </a:bodyPr>
          <a:lstStyle/>
          <a:p>
            <a:pPr algn="l">
              <a:spcAft>
                <a:spcPts val="500"/>
              </a:spcAft>
            </a:pPr>
            <a:r>
              <a:rPr sz="2800" b="1" i="0">
                <a:solidFill>
                  <a:srgbClr val="17343A"/>
                </a:solidFill>
                <a:latin typeface="Aptos"/>
              </a:rPr>
              <a:t>Where Bandwidth Is Actually Recovered</a:t>
            </a:r>
          </a:p>
        </p:txBody>
      </p:sp>
      <p:sp>
        <p:nvSpPr>
          <p:cNvPr id="7" name="Rectangle 6"/>
          <p:cNvSpPr/>
          <p:nvPr/>
        </p:nvSpPr>
        <p:spPr>
          <a:xfrm>
            <a:off x="612648" y="1399032"/>
            <a:ext cx="685800" cy="41148"/>
          </a:xfrm>
          <a:prstGeom prst="rect">
            <a:avLst/>
          </a:prstGeom>
          <a:solidFill>
            <a:srgbClr val="E66D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6519672"/>
            <a:ext cx="10991088" cy="10972"/>
          </a:xfrm>
          <a:prstGeom prst="rect">
            <a:avLst/>
          </a:prstGeom>
          <a:solidFill>
            <a:srgbClr val="D5E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6565392"/>
            <a:ext cx="5943600" cy="164592"/>
          </a:xfrm>
          <a:prstGeom prst="rect">
            <a:avLst/>
          </a:prstGeom>
          <a:noFill/>
        </p:spPr>
        <p:txBody>
          <a:bodyPr wrap="square" lIns="36576" rIns="36576" tIns="36576" bIns="36576" anchor="ctr">
            <a:spAutoFit/>
          </a:bodyPr>
          <a:lstStyle/>
          <a:p>
            <a:pPr algn="l">
              <a:spcAft>
                <a:spcPts val="500"/>
              </a:spcAft>
            </a:pPr>
            <a:r>
              <a:rPr sz="800" b="1" i="0">
                <a:solidFill>
                  <a:srgbClr val="526A70"/>
                </a:solidFill>
                <a:latin typeface="Aptos"/>
              </a:rPr>
              <a:t>NETINSIGHT-X  |  PROJECT REVIEW</a:t>
            </a:r>
          </a:p>
        </p:txBody>
      </p:sp>
      <p:sp>
        <p:nvSpPr>
          <p:cNvPr id="10" name="TextBox 9"/>
          <p:cNvSpPr txBox="1"/>
          <p:nvPr/>
        </p:nvSpPr>
        <p:spPr>
          <a:xfrm>
            <a:off x="10972800" y="6547104"/>
            <a:ext cx="594360" cy="182880"/>
          </a:xfrm>
          <a:prstGeom prst="rect">
            <a:avLst/>
          </a:prstGeom>
          <a:noFill/>
        </p:spPr>
        <p:txBody>
          <a:bodyPr wrap="square" lIns="36576" rIns="36576" tIns="36576" bIns="36576" anchor="ctr">
            <a:spAutoFit/>
          </a:bodyPr>
          <a:lstStyle/>
          <a:p>
            <a:pPr algn="r">
              <a:spcAft>
                <a:spcPts val="500"/>
              </a:spcAft>
            </a:pPr>
            <a:r>
              <a:rPr sz="900" b="1" i="0">
                <a:solidFill>
                  <a:srgbClr val="526A70"/>
                </a:solidFill>
                <a:latin typeface="Aptos"/>
              </a:rPr>
              <a:t>09</a:t>
            </a:r>
          </a:p>
        </p:txBody>
      </p:sp>
      <p:sp>
        <p:nvSpPr>
          <p:cNvPr id="11" name="Rounded Rectangle 10"/>
          <p:cNvSpPr/>
          <p:nvPr/>
        </p:nvSpPr>
        <p:spPr>
          <a:xfrm>
            <a:off x="749808" y="1828800"/>
            <a:ext cx="3063240" cy="1325880"/>
          </a:xfrm>
          <a:prstGeom prst="roundRect">
            <a:avLst>
              <a:gd name="adj" fmla="val 8000"/>
            </a:avLst>
          </a:prstGeom>
          <a:solidFill>
            <a:srgbClr val="FFFFFF"/>
          </a:solidFill>
          <a:ln>
            <a:solidFill>
              <a:srgbClr val="D5E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49808" y="1828800"/>
            <a:ext cx="64008" cy="1325880"/>
          </a:xfrm>
          <a:prstGeom prst="roundRect">
            <a:avLst>
              <a:gd name="adj" fmla="val 8000"/>
            </a:avLst>
          </a:prstGeom>
          <a:solidFill>
            <a:srgbClr val="087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50976" y="1965960"/>
            <a:ext cx="2679192" cy="320040"/>
          </a:xfrm>
          <a:prstGeom prst="rect">
            <a:avLst/>
          </a:prstGeom>
          <a:noFill/>
        </p:spPr>
        <p:txBody>
          <a:bodyPr wrap="square" lIns="36576" rIns="36576" tIns="36576" bIns="36576" anchor="t">
            <a:spAutoFit/>
          </a:bodyPr>
          <a:lstStyle/>
          <a:p>
            <a:pPr algn="l">
              <a:spcAft>
                <a:spcPts val="500"/>
              </a:spcAft>
            </a:pPr>
            <a:r>
              <a:rPr sz="1600" b="1" i="0">
                <a:solidFill>
                  <a:srgbClr val="17343A"/>
                </a:solidFill>
                <a:latin typeface="Aptos"/>
              </a:rPr>
              <a:t>1 · OBSERVE</a:t>
            </a:r>
          </a:p>
        </p:txBody>
      </p:sp>
      <p:sp>
        <p:nvSpPr>
          <p:cNvPr id="14" name="TextBox 13"/>
          <p:cNvSpPr txBox="1"/>
          <p:nvPr/>
        </p:nvSpPr>
        <p:spPr>
          <a:xfrm>
            <a:off x="950976" y="2350008"/>
            <a:ext cx="2679192" cy="704087"/>
          </a:xfrm>
          <a:prstGeom prst="rect">
            <a:avLst/>
          </a:prstGeom>
          <a:noFill/>
        </p:spPr>
        <p:txBody>
          <a:bodyPr wrap="square" lIns="36576" rIns="36576" tIns="36576" bIns="36576" anchor="t">
            <a:spAutoFit/>
          </a:bodyPr>
          <a:lstStyle/>
          <a:p>
            <a:pPr algn="l">
              <a:spcAft>
                <a:spcPts val="500"/>
              </a:spcAft>
            </a:pPr>
            <a:r>
              <a:rPr sz="1400" b="0" i="0">
                <a:solidFill>
                  <a:srgbClr val="526A70"/>
                </a:solidFill>
                <a:latin typeface="Aptos"/>
              </a:rPr>
              <a:t>Measure bytes in a suspicious flow over its observed duration.</a:t>
            </a:r>
          </a:p>
        </p:txBody>
      </p:sp>
      <p:sp>
        <p:nvSpPr>
          <p:cNvPr id="15" name="Rounded Rectangle 14"/>
          <p:cNvSpPr/>
          <p:nvPr/>
        </p:nvSpPr>
        <p:spPr>
          <a:xfrm>
            <a:off x="4553712" y="1828800"/>
            <a:ext cx="3063240" cy="1325880"/>
          </a:xfrm>
          <a:prstGeom prst="roundRect">
            <a:avLst>
              <a:gd name="adj" fmla="val 8000"/>
            </a:avLst>
          </a:prstGeom>
          <a:solidFill>
            <a:srgbClr val="FFFFFF"/>
          </a:solidFill>
          <a:ln>
            <a:solidFill>
              <a:srgbClr val="D5E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553712" y="1828800"/>
            <a:ext cx="64008" cy="1325880"/>
          </a:xfrm>
          <a:prstGeom prst="roundRect">
            <a:avLst>
              <a:gd name="adj" fmla="val 8000"/>
            </a:avLst>
          </a:prstGeom>
          <a:solidFill>
            <a:srgbClr val="E66D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54880" y="1965960"/>
            <a:ext cx="2679192" cy="320040"/>
          </a:xfrm>
          <a:prstGeom prst="rect">
            <a:avLst/>
          </a:prstGeom>
          <a:noFill/>
        </p:spPr>
        <p:txBody>
          <a:bodyPr wrap="square" lIns="36576" rIns="36576" tIns="36576" bIns="36576" anchor="t">
            <a:spAutoFit/>
          </a:bodyPr>
          <a:lstStyle/>
          <a:p>
            <a:pPr algn="l">
              <a:spcAft>
                <a:spcPts val="500"/>
              </a:spcAft>
            </a:pPr>
            <a:r>
              <a:rPr sz="1600" b="1" i="0">
                <a:solidFill>
                  <a:srgbClr val="17343A"/>
                </a:solidFill>
                <a:latin typeface="Aptos"/>
              </a:rPr>
              <a:t>2 · QUALIFY</a:t>
            </a:r>
          </a:p>
        </p:txBody>
      </p:sp>
      <p:sp>
        <p:nvSpPr>
          <p:cNvPr id="18" name="TextBox 17"/>
          <p:cNvSpPr txBox="1"/>
          <p:nvPr/>
        </p:nvSpPr>
        <p:spPr>
          <a:xfrm>
            <a:off x="4754880" y="2350008"/>
            <a:ext cx="2679192" cy="704087"/>
          </a:xfrm>
          <a:prstGeom prst="rect">
            <a:avLst/>
          </a:prstGeom>
          <a:noFill/>
        </p:spPr>
        <p:txBody>
          <a:bodyPr wrap="square" lIns="36576" rIns="36576" tIns="36576" bIns="36576" anchor="t">
            <a:spAutoFit/>
          </a:bodyPr>
          <a:lstStyle/>
          <a:p>
            <a:pPr algn="l">
              <a:spcAft>
                <a:spcPts val="500"/>
              </a:spcAft>
            </a:pPr>
            <a:r>
              <a:rPr sz="1300" b="0" i="0">
                <a:solidFill>
                  <a:srgbClr val="526A70"/>
                </a:solidFill>
                <a:latin typeface="Aptos"/>
              </a:rPr>
              <a:t>XGBoost label + confidence + repeated packet evidence; explicit opt-in is still required.</a:t>
            </a:r>
          </a:p>
        </p:txBody>
      </p:sp>
      <p:sp>
        <p:nvSpPr>
          <p:cNvPr id="19" name="Rounded Rectangle 18"/>
          <p:cNvSpPr/>
          <p:nvPr/>
        </p:nvSpPr>
        <p:spPr>
          <a:xfrm>
            <a:off x="8339327" y="1828800"/>
            <a:ext cx="3063240" cy="1325880"/>
          </a:xfrm>
          <a:prstGeom prst="roundRect">
            <a:avLst>
              <a:gd name="adj" fmla="val 8000"/>
            </a:avLst>
          </a:prstGeom>
          <a:solidFill>
            <a:srgbClr val="FFFFFF"/>
          </a:solidFill>
          <a:ln>
            <a:solidFill>
              <a:srgbClr val="D5E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339327" y="1828800"/>
            <a:ext cx="64008" cy="1325880"/>
          </a:xfrm>
          <a:prstGeom prst="roundRect">
            <a:avLst>
              <a:gd name="adj" fmla="val 8000"/>
            </a:avLst>
          </a:prstGeom>
          <a:solidFill>
            <a:srgbClr val="173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40496" y="1965960"/>
            <a:ext cx="2679192" cy="320040"/>
          </a:xfrm>
          <a:prstGeom prst="rect">
            <a:avLst/>
          </a:prstGeom>
          <a:noFill/>
        </p:spPr>
        <p:txBody>
          <a:bodyPr wrap="square" lIns="36576" rIns="36576" tIns="36576" bIns="36576" anchor="t">
            <a:spAutoFit/>
          </a:bodyPr>
          <a:lstStyle/>
          <a:p>
            <a:pPr algn="l">
              <a:spcAft>
                <a:spcPts val="500"/>
              </a:spcAft>
            </a:pPr>
            <a:r>
              <a:rPr sz="1600" b="1" i="0">
                <a:solidFill>
                  <a:srgbClr val="17343A"/>
                </a:solidFill>
                <a:latin typeface="Aptos"/>
              </a:rPr>
              <a:t>3 · CONTAIN</a:t>
            </a:r>
          </a:p>
        </p:txBody>
      </p:sp>
      <p:sp>
        <p:nvSpPr>
          <p:cNvPr id="22" name="TextBox 21"/>
          <p:cNvSpPr txBox="1"/>
          <p:nvPr/>
        </p:nvSpPr>
        <p:spPr>
          <a:xfrm>
            <a:off x="8540496" y="2350008"/>
            <a:ext cx="2679192" cy="704087"/>
          </a:xfrm>
          <a:prstGeom prst="rect">
            <a:avLst/>
          </a:prstGeom>
          <a:noFill/>
        </p:spPr>
        <p:txBody>
          <a:bodyPr wrap="square" lIns="36576" rIns="36576" tIns="36576" bIns="36576" anchor="t">
            <a:spAutoFit/>
          </a:bodyPr>
          <a:lstStyle/>
          <a:p>
            <a:pPr algn="l">
              <a:spcAft>
                <a:spcPts val="500"/>
              </a:spcAft>
            </a:pPr>
            <a:r>
              <a:rPr sz="1300" b="0" i="0">
                <a:solidFill>
                  <a:srgbClr val="526A70"/>
                </a:solidFill>
                <a:latin typeface="Aptos"/>
              </a:rPr>
              <a:t>Windows Firewall can block the exact outbound tuple; then that traffic stops at the source.</a:t>
            </a:r>
          </a:p>
        </p:txBody>
      </p:sp>
      <p:sp>
        <p:nvSpPr>
          <p:cNvPr id="23" name="TextBox 22"/>
          <p:cNvSpPr txBox="1"/>
          <p:nvPr/>
        </p:nvSpPr>
        <p:spPr>
          <a:xfrm>
            <a:off x="3886200" y="2249424"/>
            <a:ext cx="502920" cy="384048"/>
          </a:xfrm>
          <a:prstGeom prst="rect">
            <a:avLst/>
          </a:prstGeom>
          <a:noFill/>
        </p:spPr>
        <p:txBody>
          <a:bodyPr wrap="square" lIns="36576" rIns="36576" tIns="36576" bIns="36576" anchor="t">
            <a:spAutoFit/>
          </a:bodyPr>
          <a:lstStyle/>
          <a:p>
            <a:pPr algn="ctr">
              <a:spcAft>
                <a:spcPts val="500"/>
              </a:spcAft>
            </a:pPr>
            <a:r>
              <a:rPr sz="2400" b="1" i="0">
                <a:solidFill>
                  <a:srgbClr val="E66D53"/>
                </a:solidFill>
                <a:latin typeface="Aptos"/>
              </a:rPr>
              <a:t>→</a:t>
            </a:r>
          </a:p>
        </p:txBody>
      </p:sp>
      <p:sp>
        <p:nvSpPr>
          <p:cNvPr id="24" name="TextBox 23"/>
          <p:cNvSpPr txBox="1"/>
          <p:nvPr/>
        </p:nvSpPr>
        <p:spPr>
          <a:xfrm>
            <a:off x="7699248" y="2249424"/>
            <a:ext cx="502920" cy="384048"/>
          </a:xfrm>
          <a:prstGeom prst="rect">
            <a:avLst/>
          </a:prstGeom>
          <a:noFill/>
        </p:spPr>
        <p:txBody>
          <a:bodyPr wrap="square" lIns="36576" rIns="36576" tIns="36576" bIns="36576" anchor="t">
            <a:spAutoFit/>
          </a:bodyPr>
          <a:lstStyle/>
          <a:p>
            <a:pPr algn="ctr">
              <a:spcAft>
                <a:spcPts val="500"/>
              </a:spcAft>
            </a:pPr>
            <a:r>
              <a:rPr sz="2400" b="1" i="0">
                <a:solidFill>
                  <a:srgbClr val="E66D53"/>
                </a:solidFill>
                <a:latin typeface="Aptos"/>
              </a:rPr>
              <a:t>→</a:t>
            </a:r>
          </a:p>
        </p:txBody>
      </p:sp>
      <p:sp>
        <p:nvSpPr>
          <p:cNvPr id="25" name="Rounded Rectangle 24"/>
          <p:cNvSpPr/>
          <p:nvPr/>
        </p:nvSpPr>
        <p:spPr>
          <a:xfrm>
            <a:off x="1188720" y="3794760"/>
            <a:ext cx="4572000" cy="1051560"/>
          </a:xfrm>
          <a:prstGeom prst="roundRect">
            <a:avLst>
              <a:gd name="adj" fmla="val 8000"/>
            </a:avLst>
          </a:prstGeom>
          <a:solidFill>
            <a:srgbClr val="173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353312" y="3886200"/>
            <a:ext cx="4242816" cy="228600"/>
          </a:xfrm>
          <a:prstGeom prst="rect">
            <a:avLst/>
          </a:prstGeom>
          <a:noFill/>
        </p:spPr>
        <p:txBody>
          <a:bodyPr wrap="square" lIns="36576" rIns="36576" tIns="36576" bIns="36576" anchor="t">
            <a:spAutoFit/>
          </a:bodyPr>
          <a:lstStyle/>
          <a:p>
            <a:pPr algn="l">
              <a:spcAft>
                <a:spcPts val="500"/>
              </a:spcAft>
            </a:pPr>
            <a:r>
              <a:rPr sz="900" b="1" i="0">
                <a:solidFill>
                  <a:srgbClr val="D7ED76"/>
                </a:solidFill>
                <a:latin typeface="Aptos"/>
              </a:rPr>
              <a:t>OBSERVED FLOW RATE ESTIMATE</a:t>
            </a:r>
          </a:p>
        </p:txBody>
      </p:sp>
      <p:sp>
        <p:nvSpPr>
          <p:cNvPr id="27" name="TextBox 26"/>
          <p:cNvSpPr txBox="1"/>
          <p:nvPr/>
        </p:nvSpPr>
        <p:spPr>
          <a:xfrm>
            <a:off x="1353312" y="4178808"/>
            <a:ext cx="4242816" cy="594359"/>
          </a:xfrm>
          <a:prstGeom prst="rect">
            <a:avLst/>
          </a:prstGeom>
          <a:noFill/>
        </p:spPr>
        <p:txBody>
          <a:bodyPr wrap="square" lIns="36576" rIns="36576" tIns="36576" bIns="36576" anchor="ctr">
            <a:spAutoFit/>
          </a:bodyPr>
          <a:lstStyle/>
          <a:p>
            <a:pPr algn="l">
              <a:spcAft>
                <a:spcPts val="500"/>
              </a:spcAft>
            </a:pPr>
            <a:r>
              <a:rPr sz="1900" b="1" i="0">
                <a:solidFill>
                  <a:srgbClr val="FFFFFF"/>
                </a:solidFill>
                <a:latin typeface="Aptos"/>
              </a:rPr>
              <a:t>R_flow ≈ 8 × bytes / duration</a:t>
            </a:r>
          </a:p>
        </p:txBody>
      </p:sp>
      <p:sp>
        <p:nvSpPr>
          <p:cNvPr id="28" name="Rounded Rectangle 27"/>
          <p:cNvSpPr/>
          <p:nvPr/>
        </p:nvSpPr>
        <p:spPr>
          <a:xfrm>
            <a:off x="6400800" y="3794760"/>
            <a:ext cx="4572000" cy="1051560"/>
          </a:xfrm>
          <a:prstGeom prst="roundRect">
            <a:avLst>
              <a:gd name="adj" fmla="val 8000"/>
            </a:avLst>
          </a:prstGeom>
          <a:solidFill>
            <a:srgbClr val="173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65392" y="3886200"/>
            <a:ext cx="4242816" cy="228600"/>
          </a:xfrm>
          <a:prstGeom prst="rect">
            <a:avLst/>
          </a:prstGeom>
          <a:noFill/>
        </p:spPr>
        <p:txBody>
          <a:bodyPr wrap="square" lIns="36576" rIns="36576" tIns="36576" bIns="36576" anchor="t">
            <a:spAutoFit/>
          </a:bodyPr>
          <a:lstStyle/>
          <a:p>
            <a:pPr algn="l">
              <a:spcAft>
                <a:spcPts val="500"/>
              </a:spcAft>
            </a:pPr>
            <a:r>
              <a:rPr sz="900" b="1" i="0">
                <a:solidFill>
                  <a:srgbClr val="D7ED76"/>
                </a:solidFill>
                <a:latin typeface="Aptos"/>
              </a:rPr>
              <a:t>RELEASED OFFERED LOAD (IF TRAFFIC STOPS)</a:t>
            </a:r>
          </a:p>
        </p:txBody>
      </p:sp>
      <p:sp>
        <p:nvSpPr>
          <p:cNvPr id="30" name="TextBox 29"/>
          <p:cNvSpPr txBox="1"/>
          <p:nvPr/>
        </p:nvSpPr>
        <p:spPr>
          <a:xfrm>
            <a:off x="6565392" y="4178808"/>
            <a:ext cx="4242816" cy="594359"/>
          </a:xfrm>
          <a:prstGeom prst="rect">
            <a:avLst/>
          </a:prstGeom>
          <a:noFill/>
        </p:spPr>
        <p:txBody>
          <a:bodyPr wrap="square" lIns="36576" rIns="36576" tIns="36576" bIns="36576" anchor="ctr">
            <a:spAutoFit/>
          </a:bodyPr>
          <a:lstStyle/>
          <a:p>
            <a:pPr algn="l">
              <a:spcAft>
                <a:spcPts val="500"/>
              </a:spcAft>
            </a:pPr>
            <a:r>
              <a:rPr sz="1800" b="1" i="0">
                <a:solidFill>
                  <a:srgbClr val="FFFFFF"/>
                </a:solidFill>
                <a:latin typeface="Aptos"/>
              </a:rPr>
              <a:t>ΔR ≈ R_flow</a:t>
            </a:r>
          </a:p>
        </p:txBody>
      </p:sp>
      <p:sp>
        <p:nvSpPr>
          <p:cNvPr id="31" name="Rounded Rectangle 30"/>
          <p:cNvSpPr/>
          <p:nvPr/>
        </p:nvSpPr>
        <p:spPr>
          <a:xfrm>
            <a:off x="960120" y="5212080"/>
            <a:ext cx="10241280" cy="658368"/>
          </a:xfrm>
          <a:prstGeom prst="roundRect">
            <a:avLst>
              <a:gd name="adj" fmla="val 8000"/>
            </a:avLst>
          </a:prstGeom>
          <a:solidFill>
            <a:srgbClr val="F8E9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70432" y="5321808"/>
            <a:ext cx="9838944" cy="411480"/>
          </a:xfrm>
          <a:prstGeom prst="rect">
            <a:avLst/>
          </a:prstGeom>
          <a:noFill/>
        </p:spPr>
        <p:txBody>
          <a:bodyPr wrap="square" lIns="36576" rIns="36576" tIns="36576" bIns="36576" anchor="ctr">
            <a:spAutoFit/>
          </a:bodyPr>
          <a:lstStyle/>
          <a:p>
            <a:pPr algn="l">
              <a:spcAft>
                <a:spcPts val="500"/>
              </a:spcAft>
            </a:pPr>
            <a:r>
              <a:rPr sz="1300" b="1" i="0">
                <a:solidFill>
                  <a:srgbClr val="17343A"/>
                </a:solidFill>
                <a:latin typeface="Aptos"/>
              </a:rPr>
              <a:t>A firewall block may reduce competing load and make link capacity available. It does not increase the physical link speed.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F6F1"/>
        </a:solidFill>
        <a:effectLst/>
      </p:bgPr>
    </p:bg>
    <p:spTree>
      <p:nvGrpSpPr>
        <p:cNvPr id="1" name=""/>
        <p:cNvGrpSpPr/>
        <p:nvPr/>
      </p:nvGrpSpPr>
      <p:grpSpPr/>
      <p:sp>
        <p:nvSpPr>
          <p:cNvPr id="2" name="Rounded Rectangle 1"/>
          <p:cNvSpPr/>
          <p:nvPr/>
        </p:nvSpPr>
        <p:spPr>
          <a:xfrm>
            <a:off x="502920" y="310896"/>
            <a:ext cx="310896" cy="310896"/>
          </a:xfrm>
          <a:prstGeom prst="roundRect">
            <a:avLst>
              <a:gd name="adj" fmla="val 8000"/>
            </a:avLst>
          </a:prstGeom>
          <a:solidFill>
            <a:srgbClr val="D7ED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315468"/>
            <a:ext cx="256032" cy="265176"/>
          </a:xfrm>
          <a:prstGeom prst="rect">
            <a:avLst/>
          </a:prstGeom>
          <a:noFill/>
        </p:spPr>
        <p:txBody>
          <a:bodyPr wrap="square" lIns="0" rIns="0" tIns="0" bIns="0" anchor="ctr">
            <a:spAutoFit/>
          </a:bodyPr>
          <a:lstStyle/>
          <a:p>
            <a:pPr algn="ctr">
              <a:spcAft>
                <a:spcPts val="500"/>
              </a:spcAft>
            </a:pPr>
            <a:r>
              <a:rPr sz="1500" b="1" i="0">
                <a:solidFill>
                  <a:srgbClr val="17343A"/>
                </a:solidFill>
                <a:latin typeface="Aptos"/>
              </a:rPr>
              <a:t>N</a:t>
            </a:r>
          </a:p>
        </p:txBody>
      </p:sp>
      <p:sp>
        <p:nvSpPr>
          <p:cNvPr id="4" name="TextBox 3"/>
          <p:cNvSpPr txBox="1"/>
          <p:nvPr/>
        </p:nvSpPr>
        <p:spPr>
          <a:xfrm>
            <a:off x="905256" y="310896"/>
            <a:ext cx="2103120" cy="274320"/>
          </a:xfrm>
          <a:prstGeom prst="rect">
            <a:avLst/>
          </a:prstGeom>
          <a:noFill/>
        </p:spPr>
        <p:txBody>
          <a:bodyPr wrap="square" lIns="36576" rIns="36576" tIns="36576" bIns="36576" anchor="ctr">
            <a:spAutoFit/>
          </a:bodyPr>
          <a:lstStyle/>
          <a:p>
            <a:pPr algn="l">
              <a:spcAft>
                <a:spcPts val="500"/>
              </a:spcAft>
            </a:pPr>
            <a:r>
              <a:rPr sz="1000" b="1" i="0">
                <a:solidFill>
                  <a:srgbClr val="087E78"/>
                </a:solidFill>
                <a:latin typeface="Aptos"/>
              </a:rPr>
              <a:t>NETINSIGHT-X</a:t>
            </a:r>
          </a:p>
        </p:txBody>
      </p:sp>
      <p:sp>
        <p:nvSpPr>
          <p:cNvPr id="5" name="TextBox 4"/>
          <p:cNvSpPr txBox="1"/>
          <p:nvPr/>
        </p:nvSpPr>
        <p:spPr>
          <a:xfrm>
            <a:off x="8321040" y="310896"/>
            <a:ext cx="3337560" cy="274320"/>
          </a:xfrm>
          <a:prstGeom prst="rect">
            <a:avLst/>
          </a:prstGeom>
          <a:noFill/>
        </p:spPr>
        <p:txBody>
          <a:bodyPr wrap="square" lIns="36576" rIns="36576" tIns="36576" bIns="36576" anchor="ctr">
            <a:spAutoFit/>
          </a:bodyPr>
          <a:lstStyle/>
          <a:p>
            <a:pPr algn="r">
              <a:spcAft>
                <a:spcPts val="500"/>
              </a:spcAft>
            </a:pPr>
            <a:r>
              <a:rPr sz="900" b="1" i="0">
                <a:solidFill>
                  <a:srgbClr val="526A70"/>
                </a:solidFill>
                <a:latin typeface="Aptos"/>
              </a:rPr>
              <a:t>ACCURATE IMPLEMENTATION STORY  ·  10</a:t>
            </a:r>
          </a:p>
        </p:txBody>
      </p:sp>
      <p:sp>
        <p:nvSpPr>
          <p:cNvPr id="6" name="TextBox 5"/>
          <p:cNvSpPr txBox="1"/>
          <p:nvPr/>
        </p:nvSpPr>
        <p:spPr>
          <a:xfrm>
            <a:off x="594360" y="786384"/>
            <a:ext cx="10972800" cy="521207"/>
          </a:xfrm>
          <a:prstGeom prst="rect">
            <a:avLst/>
          </a:prstGeom>
          <a:noFill/>
        </p:spPr>
        <p:txBody>
          <a:bodyPr wrap="square" lIns="36576" rIns="36576" tIns="36576" bIns="36576" anchor="ctr">
            <a:spAutoFit/>
          </a:bodyPr>
          <a:lstStyle/>
          <a:p>
            <a:pPr algn="l">
              <a:spcAft>
                <a:spcPts val="500"/>
              </a:spcAft>
            </a:pPr>
            <a:r>
              <a:rPr sz="2800" b="1" i="0">
                <a:solidFill>
                  <a:srgbClr val="17343A"/>
                </a:solidFill>
                <a:latin typeface="Aptos"/>
              </a:rPr>
              <a:t>What Is Connected Today—and What Is Not</a:t>
            </a:r>
          </a:p>
        </p:txBody>
      </p:sp>
      <p:sp>
        <p:nvSpPr>
          <p:cNvPr id="7" name="Rectangle 6"/>
          <p:cNvSpPr/>
          <p:nvPr/>
        </p:nvSpPr>
        <p:spPr>
          <a:xfrm>
            <a:off x="612648" y="1399032"/>
            <a:ext cx="685800" cy="41148"/>
          </a:xfrm>
          <a:prstGeom prst="rect">
            <a:avLst/>
          </a:prstGeom>
          <a:solidFill>
            <a:srgbClr val="E66D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6519672"/>
            <a:ext cx="10991088" cy="10972"/>
          </a:xfrm>
          <a:prstGeom prst="rect">
            <a:avLst/>
          </a:prstGeom>
          <a:solidFill>
            <a:srgbClr val="D5E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6565392"/>
            <a:ext cx="5943600" cy="164592"/>
          </a:xfrm>
          <a:prstGeom prst="rect">
            <a:avLst/>
          </a:prstGeom>
          <a:noFill/>
        </p:spPr>
        <p:txBody>
          <a:bodyPr wrap="square" lIns="36576" rIns="36576" tIns="36576" bIns="36576" anchor="ctr">
            <a:spAutoFit/>
          </a:bodyPr>
          <a:lstStyle/>
          <a:p>
            <a:pPr algn="l">
              <a:spcAft>
                <a:spcPts val="500"/>
              </a:spcAft>
            </a:pPr>
            <a:r>
              <a:rPr sz="800" b="1" i="0">
                <a:solidFill>
                  <a:srgbClr val="526A70"/>
                </a:solidFill>
                <a:latin typeface="Aptos"/>
              </a:rPr>
              <a:t>NETINSIGHT-X  |  PROJECT REVIEW</a:t>
            </a:r>
          </a:p>
        </p:txBody>
      </p:sp>
      <p:sp>
        <p:nvSpPr>
          <p:cNvPr id="10" name="TextBox 9"/>
          <p:cNvSpPr txBox="1"/>
          <p:nvPr/>
        </p:nvSpPr>
        <p:spPr>
          <a:xfrm>
            <a:off x="10972800" y="6547104"/>
            <a:ext cx="594360" cy="182880"/>
          </a:xfrm>
          <a:prstGeom prst="rect">
            <a:avLst/>
          </a:prstGeom>
          <a:noFill/>
        </p:spPr>
        <p:txBody>
          <a:bodyPr wrap="square" lIns="36576" rIns="36576" tIns="36576" bIns="36576" anchor="ctr">
            <a:spAutoFit/>
          </a:bodyPr>
          <a:lstStyle/>
          <a:p>
            <a:pPr algn="r">
              <a:spcAft>
                <a:spcPts val="500"/>
              </a:spcAft>
            </a:pPr>
            <a:r>
              <a:rPr sz="900" b="1" i="0">
                <a:solidFill>
                  <a:srgbClr val="526A70"/>
                </a:solidFill>
                <a:latin typeface="Aptos"/>
              </a:rPr>
              <a:t>10</a:t>
            </a:r>
          </a:p>
        </p:txBody>
      </p:sp>
      <p:sp>
        <p:nvSpPr>
          <p:cNvPr id="11" name="Rounded Rectangle 10"/>
          <p:cNvSpPr/>
          <p:nvPr/>
        </p:nvSpPr>
        <p:spPr>
          <a:xfrm>
            <a:off x="749808" y="1810512"/>
            <a:ext cx="4983480" cy="1828800"/>
          </a:xfrm>
          <a:prstGeom prst="roundRect">
            <a:avLst>
              <a:gd name="adj" fmla="val 8000"/>
            </a:avLst>
          </a:prstGeom>
          <a:solidFill>
            <a:srgbClr val="FFFFFF"/>
          </a:solidFill>
          <a:ln>
            <a:solidFill>
              <a:srgbClr val="D5E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49808" y="1810512"/>
            <a:ext cx="64008" cy="1828800"/>
          </a:xfrm>
          <a:prstGeom prst="roundRect">
            <a:avLst>
              <a:gd name="adj" fmla="val 8000"/>
            </a:avLst>
          </a:prstGeom>
          <a:solidFill>
            <a:srgbClr val="087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50976" y="1947672"/>
            <a:ext cx="4599432" cy="320040"/>
          </a:xfrm>
          <a:prstGeom prst="rect">
            <a:avLst/>
          </a:prstGeom>
          <a:noFill/>
        </p:spPr>
        <p:txBody>
          <a:bodyPr wrap="square" lIns="36576" rIns="36576" tIns="36576" bIns="36576" anchor="t">
            <a:spAutoFit/>
          </a:bodyPr>
          <a:lstStyle/>
          <a:p>
            <a:pPr algn="l">
              <a:spcAft>
                <a:spcPts val="500"/>
              </a:spcAft>
            </a:pPr>
            <a:r>
              <a:rPr sz="1600" b="1" i="0">
                <a:solidFill>
                  <a:srgbClr val="17343A"/>
                </a:solidFill>
                <a:latin typeface="Aptos"/>
              </a:rPr>
              <a:t>CONNECTED IN THE LIVE TELEMETRY PATH</a:t>
            </a:r>
          </a:p>
        </p:txBody>
      </p:sp>
      <p:sp>
        <p:nvSpPr>
          <p:cNvPr id="14" name="TextBox 13"/>
          <p:cNvSpPr txBox="1"/>
          <p:nvPr/>
        </p:nvSpPr>
        <p:spPr>
          <a:xfrm>
            <a:off x="950976" y="2331720"/>
            <a:ext cx="4599432" cy="1207007"/>
          </a:xfrm>
          <a:prstGeom prst="rect">
            <a:avLst/>
          </a:prstGeom>
          <a:noFill/>
        </p:spPr>
        <p:txBody>
          <a:bodyPr wrap="square" lIns="36576" rIns="36576" tIns="36576" bIns="36576" anchor="t">
            <a:spAutoFit/>
          </a:bodyPr>
          <a:lstStyle/>
          <a:p>
            <a:pPr algn="l">
              <a:spcAft>
                <a:spcPts val="500"/>
              </a:spcAft>
            </a:pPr>
            <a:r>
              <a:rPr sz="1400" b="0" i="0">
                <a:solidFill>
                  <a:srgbClr val="526A70"/>
                </a:solidFill>
                <a:latin typeface="Aptos"/>
              </a:rPr>
              <a:t>Each telemetry response obtains measured capacity, solves the QoS LP with configured weights/bounds, returns class Mbps limits, and the agent applies local shaping.</a:t>
            </a:r>
          </a:p>
        </p:txBody>
      </p:sp>
      <p:sp>
        <p:nvSpPr>
          <p:cNvPr id="15" name="Rounded Rectangle 14"/>
          <p:cNvSpPr/>
          <p:nvPr/>
        </p:nvSpPr>
        <p:spPr>
          <a:xfrm>
            <a:off x="6419088" y="1810512"/>
            <a:ext cx="4983480" cy="1828800"/>
          </a:xfrm>
          <a:prstGeom prst="roundRect">
            <a:avLst>
              <a:gd name="adj" fmla="val 8000"/>
            </a:avLst>
          </a:prstGeom>
          <a:solidFill>
            <a:srgbClr val="FFFFFF"/>
          </a:solidFill>
          <a:ln>
            <a:solidFill>
              <a:srgbClr val="D5E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419088" y="1810512"/>
            <a:ext cx="64008" cy="1828800"/>
          </a:xfrm>
          <a:prstGeom prst="roundRect">
            <a:avLst>
              <a:gd name="adj" fmla="val 8000"/>
            </a:avLst>
          </a:prstGeom>
          <a:solidFill>
            <a:srgbClr val="E66D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20255" y="1947672"/>
            <a:ext cx="4599432" cy="320040"/>
          </a:xfrm>
          <a:prstGeom prst="rect">
            <a:avLst/>
          </a:prstGeom>
          <a:noFill/>
        </p:spPr>
        <p:txBody>
          <a:bodyPr wrap="square" lIns="36576" rIns="36576" tIns="36576" bIns="36576" anchor="t">
            <a:spAutoFit/>
          </a:bodyPr>
          <a:lstStyle/>
          <a:p>
            <a:pPr algn="l">
              <a:spcAft>
                <a:spcPts val="500"/>
              </a:spcAft>
            </a:pPr>
            <a:r>
              <a:rPr sz="1600" b="1" i="0">
                <a:solidFill>
                  <a:srgbClr val="17343A"/>
                </a:solidFill>
                <a:latin typeface="Aptos"/>
              </a:rPr>
              <a:t>SEPARATE SECURITY PATH</a:t>
            </a:r>
          </a:p>
        </p:txBody>
      </p:sp>
      <p:sp>
        <p:nvSpPr>
          <p:cNvPr id="18" name="TextBox 17"/>
          <p:cNvSpPr txBox="1"/>
          <p:nvPr/>
        </p:nvSpPr>
        <p:spPr>
          <a:xfrm>
            <a:off x="6620255" y="2331720"/>
            <a:ext cx="4599432" cy="1207007"/>
          </a:xfrm>
          <a:prstGeom prst="rect">
            <a:avLst/>
          </a:prstGeom>
          <a:noFill/>
        </p:spPr>
        <p:txBody>
          <a:bodyPr wrap="square" lIns="36576" rIns="36576" tIns="36576" bIns="36576" anchor="t">
            <a:spAutoFit/>
          </a:bodyPr>
          <a:lstStyle/>
          <a:p>
            <a:pPr algn="l">
              <a:spcAft>
                <a:spcPts val="500"/>
              </a:spcAft>
            </a:pPr>
            <a:r>
              <a:rPr sz="1400" b="0" i="0">
                <a:solidFill>
                  <a:srgbClr val="526A70"/>
                </a:solidFill>
                <a:latin typeface="Aptos"/>
              </a:rPr>
              <a:t>XGBoost flow evidence can qualify an optional, exact-flow firewall restriction. Enforcement is disabled unless explicitly enabled and acknowledged by the agent.</a:t>
            </a:r>
          </a:p>
        </p:txBody>
      </p:sp>
      <p:sp>
        <p:nvSpPr>
          <p:cNvPr id="19" name="TextBox 18"/>
          <p:cNvSpPr txBox="1"/>
          <p:nvPr/>
        </p:nvSpPr>
        <p:spPr>
          <a:xfrm>
            <a:off x="5815584" y="2423160"/>
            <a:ext cx="438912" cy="384048"/>
          </a:xfrm>
          <a:prstGeom prst="rect">
            <a:avLst/>
          </a:prstGeom>
          <a:noFill/>
        </p:spPr>
        <p:txBody>
          <a:bodyPr wrap="square" lIns="36576" rIns="36576" tIns="36576" bIns="36576" anchor="t">
            <a:spAutoFit/>
          </a:bodyPr>
          <a:lstStyle/>
          <a:p>
            <a:pPr algn="ctr">
              <a:spcAft>
                <a:spcPts val="500"/>
              </a:spcAft>
            </a:pPr>
            <a:r>
              <a:rPr sz="2800" b="1" i="0">
                <a:solidFill>
                  <a:srgbClr val="17343A"/>
                </a:solidFill>
                <a:latin typeface="Aptos"/>
              </a:rPr>
              <a:t>+</a:t>
            </a:r>
          </a:p>
        </p:txBody>
      </p:sp>
      <p:sp>
        <p:nvSpPr>
          <p:cNvPr id="20" name="Rounded Rectangle 19"/>
          <p:cNvSpPr/>
          <p:nvPr/>
        </p:nvSpPr>
        <p:spPr>
          <a:xfrm>
            <a:off x="914400" y="4096512"/>
            <a:ext cx="10332720" cy="1143000"/>
          </a:xfrm>
          <a:prstGeom prst="roundRect">
            <a:avLst>
              <a:gd name="adj" fmla="val 8000"/>
            </a:avLst>
          </a:prstGeom>
          <a:solidFill>
            <a:srgbClr val="173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61288" y="4270248"/>
            <a:ext cx="9829800" cy="749808"/>
          </a:xfrm>
          <a:prstGeom prst="rect">
            <a:avLst/>
          </a:prstGeom>
          <a:noFill/>
        </p:spPr>
        <p:txBody>
          <a:bodyPr wrap="square" lIns="36576" rIns="36576" tIns="36576" bIns="36576" anchor="ctr">
            <a:spAutoFit/>
          </a:bodyPr>
          <a:lstStyle/>
          <a:p>
            <a:pPr algn="ctr">
              <a:spcAft>
                <a:spcPts val="500"/>
              </a:spcAft>
            </a:pPr>
            <a:r>
              <a:rPr sz="1600" b="1" i="0">
                <a:solidFill>
                  <a:srgbClr val="FFFFFF"/>
                </a:solidFill>
                <a:latin typeface="Aptos"/>
              </a:rPr>
              <a:t>Current boundary: a threat label does not automatically rewrite LP priorities. The two mechanisms complement one another, but adaptive threat-driven reweighting would be a future integration.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7343A"/>
        </a:solidFill>
        <a:effectLst/>
      </p:bgPr>
    </p:bg>
    <p:spTree>
      <p:nvGrpSpPr>
        <p:cNvPr id="1" name=""/>
        <p:cNvGrpSpPr/>
        <p:nvPr/>
      </p:nvGrpSpPr>
      <p:grpSpPr/>
      <p:sp>
        <p:nvSpPr>
          <p:cNvPr id="2" name="Rounded Rectangle 1"/>
          <p:cNvSpPr/>
          <p:nvPr/>
        </p:nvSpPr>
        <p:spPr>
          <a:xfrm>
            <a:off x="502920" y="310896"/>
            <a:ext cx="310896" cy="310896"/>
          </a:xfrm>
          <a:prstGeom prst="roundRect">
            <a:avLst>
              <a:gd name="adj" fmla="val 8000"/>
            </a:avLst>
          </a:prstGeom>
          <a:solidFill>
            <a:srgbClr val="E66D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315468"/>
            <a:ext cx="256032" cy="265176"/>
          </a:xfrm>
          <a:prstGeom prst="rect">
            <a:avLst/>
          </a:prstGeom>
          <a:noFill/>
        </p:spPr>
        <p:txBody>
          <a:bodyPr wrap="square" lIns="0" rIns="0" tIns="0" bIns="0" anchor="ctr">
            <a:spAutoFit/>
          </a:bodyPr>
          <a:lstStyle/>
          <a:p>
            <a:pPr algn="ctr">
              <a:spcAft>
                <a:spcPts val="500"/>
              </a:spcAft>
            </a:pPr>
            <a:r>
              <a:rPr sz="1500" b="1" i="0">
                <a:solidFill>
                  <a:srgbClr val="17343A"/>
                </a:solidFill>
                <a:latin typeface="Aptos"/>
              </a:rPr>
              <a:t>N</a:t>
            </a:r>
          </a:p>
        </p:txBody>
      </p:sp>
      <p:sp>
        <p:nvSpPr>
          <p:cNvPr id="4" name="TextBox 3"/>
          <p:cNvSpPr txBox="1"/>
          <p:nvPr/>
        </p:nvSpPr>
        <p:spPr>
          <a:xfrm>
            <a:off x="905256" y="310896"/>
            <a:ext cx="2103120" cy="274320"/>
          </a:xfrm>
          <a:prstGeom prst="rect">
            <a:avLst/>
          </a:prstGeom>
          <a:noFill/>
        </p:spPr>
        <p:txBody>
          <a:bodyPr wrap="square" lIns="36576" rIns="36576" tIns="36576" bIns="36576" anchor="ctr">
            <a:spAutoFit/>
          </a:bodyPr>
          <a:lstStyle/>
          <a:p>
            <a:pPr algn="l">
              <a:spcAft>
                <a:spcPts val="500"/>
              </a:spcAft>
            </a:pPr>
            <a:r>
              <a:rPr sz="1000" b="1" i="0">
                <a:solidFill>
                  <a:srgbClr val="D7ED76"/>
                </a:solidFill>
                <a:latin typeface="Aptos"/>
              </a:rPr>
              <a:t>NETINSIGHT-X</a:t>
            </a:r>
          </a:p>
        </p:txBody>
      </p:sp>
      <p:sp>
        <p:nvSpPr>
          <p:cNvPr id="5" name="TextBox 4"/>
          <p:cNvSpPr txBox="1"/>
          <p:nvPr/>
        </p:nvSpPr>
        <p:spPr>
          <a:xfrm>
            <a:off x="8321040" y="310896"/>
            <a:ext cx="3337560" cy="274320"/>
          </a:xfrm>
          <a:prstGeom prst="rect">
            <a:avLst/>
          </a:prstGeom>
          <a:noFill/>
        </p:spPr>
        <p:txBody>
          <a:bodyPr wrap="square" lIns="36576" rIns="36576" tIns="36576" bIns="36576" anchor="ctr">
            <a:spAutoFit/>
          </a:bodyPr>
          <a:lstStyle/>
          <a:p>
            <a:pPr algn="r">
              <a:spcAft>
                <a:spcPts val="500"/>
              </a:spcAft>
            </a:pPr>
            <a:r>
              <a:rPr sz="900" b="1" i="0">
                <a:solidFill>
                  <a:srgbClr val="B7C9C7"/>
                </a:solidFill>
                <a:latin typeface="Aptos"/>
              </a:rPr>
              <a:t>CONCLUSION  ·  11</a:t>
            </a:r>
          </a:p>
        </p:txBody>
      </p:sp>
      <p:sp>
        <p:nvSpPr>
          <p:cNvPr id="6" name="TextBox 5"/>
          <p:cNvSpPr txBox="1"/>
          <p:nvPr/>
        </p:nvSpPr>
        <p:spPr>
          <a:xfrm>
            <a:off x="594360" y="786384"/>
            <a:ext cx="10972800" cy="521207"/>
          </a:xfrm>
          <a:prstGeom prst="rect">
            <a:avLst/>
          </a:prstGeom>
          <a:noFill/>
        </p:spPr>
        <p:txBody>
          <a:bodyPr wrap="square" lIns="36576" rIns="36576" tIns="36576" bIns="36576" anchor="ctr">
            <a:spAutoFit/>
          </a:bodyPr>
          <a:lstStyle/>
          <a:p>
            <a:pPr algn="l">
              <a:spcAft>
                <a:spcPts val="500"/>
              </a:spcAft>
            </a:pPr>
            <a:r>
              <a:rPr sz="2800" b="1" i="0">
                <a:solidFill>
                  <a:srgbClr val="FFFFFF"/>
                </a:solidFill>
                <a:latin typeface="Aptos"/>
              </a:rPr>
              <a:t>The Combined Value</a:t>
            </a:r>
          </a:p>
        </p:txBody>
      </p:sp>
      <p:sp>
        <p:nvSpPr>
          <p:cNvPr id="7" name="Rectangle 6"/>
          <p:cNvSpPr/>
          <p:nvPr/>
        </p:nvSpPr>
        <p:spPr>
          <a:xfrm>
            <a:off x="612648" y="1399032"/>
            <a:ext cx="685800" cy="41148"/>
          </a:xfrm>
          <a:prstGeom prst="rect">
            <a:avLst/>
          </a:prstGeom>
          <a:solidFill>
            <a:srgbClr val="E66D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6519672"/>
            <a:ext cx="10991088" cy="10972"/>
          </a:xfrm>
          <a:prstGeom prst="rect">
            <a:avLst/>
          </a:prstGeom>
          <a:solidFill>
            <a:srgbClr val="3B56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6565392"/>
            <a:ext cx="5943600" cy="164592"/>
          </a:xfrm>
          <a:prstGeom prst="rect">
            <a:avLst/>
          </a:prstGeom>
          <a:noFill/>
        </p:spPr>
        <p:txBody>
          <a:bodyPr wrap="square" lIns="36576" rIns="36576" tIns="36576" bIns="36576" anchor="ctr">
            <a:spAutoFit/>
          </a:bodyPr>
          <a:lstStyle/>
          <a:p>
            <a:pPr algn="l">
              <a:spcAft>
                <a:spcPts val="500"/>
              </a:spcAft>
            </a:pPr>
            <a:r>
              <a:rPr sz="800" b="1" i="0">
                <a:solidFill>
                  <a:srgbClr val="B7C9C7"/>
                </a:solidFill>
                <a:latin typeface="Aptos"/>
              </a:rPr>
              <a:t>NETINSIGHT-X  |  PROJECT REVIEW</a:t>
            </a:r>
          </a:p>
        </p:txBody>
      </p:sp>
      <p:sp>
        <p:nvSpPr>
          <p:cNvPr id="10" name="TextBox 9"/>
          <p:cNvSpPr txBox="1"/>
          <p:nvPr/>
        </p:nvSpPr>
        <p:spPr>
          <a:xfrm>
            <a:off x="10972800" y="6547104"/>
            <a:ext cx="594360" cy="182880"/>
          </a:xfrm>
          <a:prstGeom prst="rect">
            <a:avLst/>
          </a:prstGeom>
          <a:noFill/>
        </p:spPr>
        <p:txBody>
          <a:bodyPr wrap="square" lIns="36576" rIns="36576" tIns="36576" bIns="36576" anchor="ctr">
            <a:spAutoFit/>
          </a:bodyPr>
          <a:lstStyle/>
          <a:p>
            <a:pPr algn="r">
              <a:spcAft>
                <a:spcPts val="500"/>
              </a:spcAft>
            </a:pPr>
            <a:r>
              <a:rPr sz="900" b="1" i="0">
                <a:solidFill>
                  <a:srgbClr val="B7C9C7"/>
                </a:solidFill>
                <a:latin typeface="Aptos"/>
              </a:rPr>
              <a:t>11</a:t>
            </a:r>
          </a:p>
        </p:txBody>
      </p:sp>
      <p:sp>
        <p:nvSpPr>
          <p:cNvPr id="11" name="TextBox 10"/>
          <p:cNvSpPr txBox="1"/>
          <p:nvPr/>
        </p:nvSpPr>
        <p:spPr>
          <a:xfrm>
            <a:off x="822960" y="1783080"/>
            <a:ext cx="10424160" cy="713232"/>
          </a:xfrm>
          <a:prstGeom prst="rect">
            <a:avLst/>
          </a:prstGeom>
          <a:noFill/>
        </p:spPr>
        <p:txBody>
          <a:bodyPr wrap="square" lIns="36576" rIns="36576" tIns="36576" bIns="36576" anchor="t">
            <a:spAutoFit/>
          </a:bodyPr>
          <a:lstStyle/>
          <a:p>
            <a:pPr algn="l">
              <a:spcAft>
                <a:spcPts val="500"/>
              </a:spcAft>
            </a:pPr>
            <a:r>
              <a:rPr sz="2500" b="1" i="0">
                <a:solidFill>
                  <a:srgbClr val="FFFFFF"/>
                </a:solidFill>
                <a:latin typeface="Aptos"/>
              </a:rPr>
              <a:t>XGBoost answers: “What kind of flow is this?”</a:t>
            </a:r>
          </a:p>
        </p:txBody>
      </p:sp>
      <p:sp>
        <p:nvSpPr>
          <p:cNvPr id="12" name="TextBox 11"/>
          <p:cNvSpPr txBox="1"/>
          <p:nvPr/>
        </p:nvSpPr>
        <p:spPr>
          <a:xfrm>
            <a:off x="822960" y="2743200"/>
            <a:ext cx="10424160" cy="713232"/>
          </a:xfrm>
          <a:prstGeom prst="rect">
            <a:avLst/>
          </a:prstGeom>
          <a:noFill/>
        </p:spPr>
        <p:txBody>
          <a:bodyPr wrap="square" lIns="36576" rIns="36576" tIns="36576" bIns="36576" anchor="t">
            <a:spAutoFit/>
          </a:bodyPr>
          <a:lstStyle/>
          <a:p>
            <a:pPr algn="l">
              <a:spcAft>
                <a:spcPts val="500"/>
              </a:spcAft>
            </a:pPr>
            <a:r>
              <a:rPr sz="2300" b="1" i="0">
                <a:solidFill>
                  <a:srgbClr val="D7ED76"/>
                </a:solidFill>
                <a:latin typeface="Aptos"/>
              </a:rPr>
              <a:t>Optimization answers: “How should the available link budget be divided?”</a:t>
            </a:r>
          </a:p>
        </p:txBody>
      </p:sp>
      <p:sp>
        <p:nvSpPr>
          <p:cNvPr id="13" name="TextBox 12"/>
          <p:cNvSpPr txBox="1"/>
          <p:nvPr/>
        </p:nvSpPr>
        <p:spPr>
          <a:xfrm>
            <a:off x="822960" y="3767328"/>
            <a:ext cx="10424160" cy="868680"/>
          </a:xfrm>
          <a:prstGeom prst="rect">
            <a:avLst/>
          </a:prstGeom>
          <a:noFill/>
        </p:spPr>
        <p:txBody>
          <a:bodyPr wrap="square" lIns="36576" rIns="36576" tIns="36576" bIns="36576" anchor="t">
            <a:spAutoFit/>
          </a:bodyPr>
          <a:lstStyle/>
          <a:p>
            <a:pPr algn="l">
              <a:spcAft>
                <a:spcPts val="500"/>
              </a:spcAft>
            </a:pPr>
            <a:r>
              <a:rPr sz="2000" b="1" i="0">
                <a:solidFill>
                  <a:srgbClr val="D7E2DF"/>
                </a:solidFill>
                <a:latin typeface="Aptos"/>
              </a:rPr>
              <a:t>Optional enforcement answers: “Can this qualifying outbound flow be stopped at its source?”</a:t>
            </a:r>
          </a:p>
        </p:txBody>
      </p:sp>
      <p:sp>
        <p:nvSpPr>
          <p:cNvPr id="14" name="Rectangle 13"/>
          <p:cNvSpPr/>
          <p:nvPr/>
        </p:nvSpPr>
        <p:spPr>
          <a:xfrm>
            <a:off x="822960" y="5074920"/>
            <a:ext cx="868680" cy="64008"/>
          </a:xfrm>
          <a:prstGeom prst="rect">
            <a:avLst/>
          </a:prstGeom>
          <a:solidFill>
            <a:srgbClr val="E66D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5440680"/>
            <a:ext cx="10424160" cy="548640"/>
          </a:xfrm>
          <a:prstGeom prst="rect">
            <a:avLst/>
          </a:prstGeom>
          <a:noFill/>
        </p:spPr>
        <p:txBody>
          <a:bodyPr wrap="square" lIns="36576" rIns="36576" tIns="36576" bIns="36576" anchor="t">
            <a:spAutoFit/>
          </a:bodyPr>
          <a:lstStyle/>
          <a:p>
            <a:pPr algn="l">
              <a:spcAft>
                <a:spcPts val="500"/>
              </a:spcAft>
            </a:pPr>
            <a:r>
              <a:rPr sz="1700" b="1" i="0">
                <a:solidFill>
                  <a:srgbClr val="FFFFFF"/>
                </a:solidFill>
                <a:latin typeface="Aptos"/>
              </a:rPr>
              <a:t>Together: visibility → evidence → controlled response → priority-based QoS allocation</a:t>
            </a:r>
          </a:p>
        </p:txBody>
      </p:sp>
      <p:sp>
        <p:nvSpPr>
          <p:cNvPr id="16" name="TextBox 15"/>
          <p:cNvSpPr txBox="1"/>
          <p:nvPr/>
        </p:nvSpPr>
        <p:spPr>
          <a:xfrm>
            <a:off x="822960" y="6080760"/>
            <a:ext cx="6400800" cy="256032"/>
          </a:xfrm>
          <a:prstGeom prst="rect">
            <a:avLst/>
          </a:prstGeom>
          <a:noFill/>
        </p:spPr>
        <p:txBody>
          <a:bodyPr wrap="square" lIns="36576" rIns="36576" tIns="36576" bIns="36576" anchor="t">
            <a:spAutoFit/>
          </a:bodyPr>
          <a:lstStyle/>
          <a:p>
            <a:pPr algn="l">
              <a:spcAft>
                <a:spcPts val="500"/>
              </a:spcAft>
            </a:pPr>
            <a:r>
              <a:rPr sz="1200" b="1" i="0">
                <a:solidFill>
                  <a:srgbClr val="D7ED76"/>
                </a:solidFill>
                <a:latin typeface="Aptos"/>
              </a:rPr>
              <a:t>Thank you  ·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